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6423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D12B2-332C-14DE-8B9F-C92AE004D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B8C1C-35FF-FA2D-B290-4A56002C4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9EC78-8E4D-FE7C-F17E-667D64B1A5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C422CD-CDB6-3D36-CB11-54AB4DEF582C}"/>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79351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linkedin.com/in/riyabhattz/"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hyperlink" Target="https://github.com/riyabhat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2E2E"/>
        </a:solidFill>
        <a:effectLst/>
      </p:bgPr>
    </p:bg>
    <p:spTree>
      <p:nvGrpSpPr>
        <p:cNvPr id="1" name=""/>
        <p:cNvGrpSpPr/>
        <p:nvPr/>
      </p:nvGrpSpPr>
      <p:grpSpPr>
        <a:xfrm>
          <a:off x="0" y="0"/>
          <a:ext cx="0" cy="0"/>
          <a:chOff x="0" y="0"/>
          <a:chExt cx="0" cy="0"/>
        </a:xfrm>
      </p:grpSpPr>
      <p:sp>
        <p:nvSpPr>
          <p:cNvPr id="2" name="Shape 0"/>
          <p:cNvSpPr/>
          <p:nvPr/>
        </p:nvSpPr>
        <p:spPr>
          <a:xfrm>
            <a:off x="9418320" y="-1463040"/>
            <a:ext cx="4572000" cy="4572000"/>
          </a:xfrm>
          <a:prstGeom prst="ellipse">
            <a:avLst/>
          </a:prstGeom>
          <a:solidFill>
            <a:srgbClr val="028090">
              <a:alpha val="30000"/>
            </a:srgbClr>
          </a:solidFill>
          <a:ln/>
        </p:spPr>
      </p:sp>
      <p:sp>
        <p:nvSpPr>
          <p:cNvPr id="3" name="Shape 1"/>
          <p:cNvSpPr/>
          <p:nvPr/>
        </p:nvSpPr>
        <p:spPr>
          <a:xfrm>
            <a:off x="10149840" y="-731520"/>
            <a:ext cx="3108960" cy="3108960"/>
          </a:xfrm>
          <a:prstGeom prst="ellipse">
            <a:avLst/>
          </a:prstGeom>
          <a:solidFill>
            <a:srgbClr val="00A896">
              <a:alpha val="45000"/>
            </a:srgbClr>
          </a:solidFill>
          <a:ln/>
        </p:spPr>
      </p:sp>
      <p:sp>
        <p:nvSpPr>
          <p:cNvPr id="4" name="Shape 2"/>
          <p:cNvSpPr/>
          <p:nvPr/>
        </p:nvSpPr>
        <p:spPr>
          <a:xfrm>
            <a:off x="-1463040" y="4389120"/>
            <a:ext cx="3840480" cy="3840480"/>
          </a:xfrm>
          <a:prstGeom prst="ellipse">
            <a:avLst/>
          </a:prstGeom>
          <a:solidFill>
            <a:srgbClr val="028090">
              <a:alpha val="30000"/>
            </a:srgbClr>
          </a:solidFill>
          <a:ln/>
        </p:spPr>
      </p:sp>
      <p:sp>
        <p:nvSpPr>
          <p:cNvPr id="5" name="Text 3"/>
          <p:cNvSpPr/>
          <p:nvPr/>
        </p:nvSpPr>
        <p:spPr>
          <a:xfrm>
            <a:off x="822960" y="1965960"/>
            <a:ext cx="7315200" cy="365760"/>
          </a:xfrm>
          <a:prstGeom prst="rect">
            <a:avLst/>
          </a:prstGeom>
          <a:noFill/>
          <a:ln/>
        </p:spPr>
        <p:txBody>
          <a:bodyPr wrap="square" rtlCol="0" anchor="ctr"/>
          <a:lstStyle/>
          <a:p>
            <a:pPr marL="0" indent="0">
              <a:buNone/>
            </a:pPr>
            <a:r>
              <a:rPr lang="en-US" sz="1400" b="1" kern="0" spc="300" dirty="0">
                <a:solidFill>
                  <a:srgbClr val="02C39A"/>
                </a:solidFill>
                <a:latin typeface="Calibri" pitchFamily="34" charset="0"/>
                <a:ea typeface="Calibri" pitchFamily="34" charset="-122"/>
                <a:cs typeface="Calibri" pitchFamily="34" charset="-120"/>
              </a:rPr>
              <a:t>CUSTOMER INTELLIGENCE REPORT</a:t>
            </a:r>
            <a:endParaRPr lang="en-US" sz="1400" dirty="0"/>
          </a:p>
        </p:txBody>
      </p:sp>
      <p:sp>
        <p:nvSpPr>
          <p:cNvPr id="6" name="Text 4"/>
          <p:cNvSpPr/>
          <p:nvPr/>
        </p:nvSpPr>
        <p:spPr>
          <a:xfrm>
            <a:off x="777240" y="2377440"/>
            <a:ext cx="9601200" cy="1920240"/>
          </a:xfrm>
          <a:prstGeom prst="rect">
            <a:avLst/>
          </a:prstGeom>
          <a:noFill/>
          <a:ln/>
        </p:spPr>
        <p:txBody>
          <a:bodyPr wrap="square"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Churn Analysis &amp;</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Customer Intelligence</a:t>
            </a:r>
            <a:endParaRPr lang="en-US" sz="4600" dirty="0"/>
          </a:p>
        </p:txBody>
      </p:sp>
      <p:sp>
        <p:nvSpPr>
          <p:cNvPr id="7" name="Shape 5"/>
          <p:cNvSpPr/>
          <p:nvPr/>
        </p:nvSpPr>
        <p:spPr>
          <a:xfrm>
            <a:off x="822960" y="4434840"/>
            <a:ext cx="1188720" cy="0"/>
          </a:xfrm>
          <a:prstGeom prst="line">
            <a:avLst/>
          </a:prstGeom>
          <a:noFill/>
          <a:ln w="38100">
            <a:solidFill>
              <a:srgbClr val="02C39A"/>
            </a:solidFill>
            <a:prstDash val="solid"/>
          </a:ln>
        </p:spPr>
      </p:sp>
      <p:sp>
        <p:nvSpPr>
          <p:cNvPr id="8" name="Text 6"/>
          <p:cNvSpPr/>
          <p:nvPr/>
        </p:nvSpPr>
        <p:spPr>
          <a:xfrm>
            <a:off x="822960" y="4617720"/>
            <a:ext cx="7772400" cy="685800"/>
          </a:xfrm>
          <a:prstGeom prst="rect">
            <a:avLst/>
          </a:prstGeom>
          <a:noFill/>
          <a:ln/>
        </p:spPr>
        <p:txBody>
          <a:bodyPr wrap="square" rtlCol="0" anchor="ctr"/>
          <a:lstStyle/>
          <a:p>
            <a:pPr marL="0" indent="0">
              <a:lnSpc>
                <a:spcPts val="2100"/>
              </a:lnSpc>
              <a:buNone/>
            </a:pPr>
            <a:r>
              <a:rPr lang="en-US" sz="1500" dirty="0">
                <a:solidFill>
                  <a:srgbClr val="C9DEDC"/>
                </a:solidFill>
                <a:latin typeface="Calibri" pitchFamily="34" charset="0"/>
                <a:ea typeface="Calibri" pitchFamily="34" charset="-122"/>
                <a:cs typeface="Calibri" pitchFamily="34" charset="-120"/>
              </a:rPr>
              <a:t>A data-driven look at subscription churn drivers, revenue at risk,</a:t>
            </a:r>
            <a:endParaRPr lang="en-US" sz="1500" dirty="0"/>
          </a:p>
          <a:p>
            <a:pPr marL="0" indent="0">
              <a:lnSpc>
                <a:spcPts val="2100"/>
              </a:lnSpc>
              <a:buNone/>
            </a:pPr>
            <a:r>
              <a:rPr lang="en-US" sz="1500" dirty="0">
                <a:solidFill>
                  <a:srgbClr val="C9DEDC"/>
                </a:solidFill>
                <a:latin typeface="Calibri" pitchFamily="34" charset="0"/>
                <a:ea typeface="Calibri" pitchFamily="34" charset="-122"/>
                <a:cs typeface="Calibri" pitchFamily="34" charset="-120"/>
              </a:rPr>
              <a:t>and retention opportunities</a:t>
            </a:r>
            <a:endParaRPr lang="en-US" sz="1500" dirty="0"/>
          </a:p>
        </p:txBody>
      </p:sp>
      <p:sp>
        <p:nvSpPr>
          <p:cNvPr id="9" name="Text 7"/>
          <p:cNvSpPr/>
          <p:nvPr/>
        </p:nvSpPr>
        <p:spPr>
          <a:xfrm>
            <a:off x="822960" y="5715000"/>
            <a:ext cx="54864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Riya Bhatt</a:t>
            </a:r>
            <a:endParaRPr lang="en-US" sz="2200" dirty="0"/>
          </a:p>
        </p:txBody>
      </p:sp>
      <p:sp>
        <p:nvSpPr>
          <p:cNvPr id="10" name="Text 8"/>
          <p:cNvSpPr/>
          <p:nvPr/>
        </p:nvSpPr>
        <p:spPr>
          <a:xfrm>
            <a:off x="822960" y="5440680"/>
            <a:ext cx="5486400" cy="274320"/>
          </a:xfrm>
          <a:prstGeom prst="rect">
            <a:avLst/>
          </a:prstGeom>
          <a:noFill/>
          <a:ln/>
        </p:spPr>
        <p:txBody>
          <a:bodyPr wrap="square" rtlCol="0" anchor="ctr"/>
          <a:lstStyle/>
          <a:p>
            <a:pPr marL="0" indent="0">
              <a:buNone/>
            </a:pPr>
            <a:r>
              <a:rPr lang="en-US" sz="1100" kern="0" spc="100" dirty="0">
                <a:solidFill>
                  <a:srgbClr val="9FC9C6"/>
                </a:solidFill>
                <a:latin typeface="Calibri" pitchFamily="34" charset="0"/>
                <a:ea typeface="Calibri" pitchFamily="34" charset="-122"/>
                <a:cs typeface="Calibri" pitchFamily="34" charset="-120"/>
              </a:rPr>
              <a:t>Prepared by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PROJECT FOUNDATION</a:t>
            </a:r>
            <a:endParaRPr lang="en-US" sz="1200" dirty="0"/>
          </a:p>
        </p:txBody>
      </p:sp>
      <p:sp>
        <p:nvSpPr>
          <p:cNvPr id="3" name="Text 1"/>
          <p:cNvSpPr/>
          <p:nvPr/>
        </p:nvSpPr>
        <p:spPr>
          <a:xfrm>
            <a:off x="548640" y="685800"/>
            <a:ext cx="10058400" cy="548640"/>
          </a:xfrm>
          <a:prstGeom prst="rect">
            <a:avLst/>
          </a:prstGeom>
          <a:noFill/>
          <a:ln/>
        </p:spPr>
        <p:txBody>
          <a:bodyPr wrap="square" rtlCol="0" anchor="ctr"/>
          <a:lstStyle/>
          <a:p>
            <a:pPr marL="0" indent="0">
              <a:buNone/>
            </a:pPr>
            <a:r>
              <a:rPr lang="en-US" sz="3000" b="1" dirty="0">
                <a:solidFill>
                  <a:srgbClr val="16282A"/>
                </a:solidFill>
                <a:latin typeface="Cambria" pitchFamily="34" charset="0"/>
                <a:ea typeface="Cambria" pitchFamily="34" charset="-122"/>
                <a:cs typeface="Cambria" pitchFamily="34" charset="-120"/>
              </a:rPr>
              <a:t>The Business Challenge</a:t>
            </a:r>
            <a:endParaRPr lang="en-US" sz="3000" dirty="0"/>
          </a:p>
        </p:txBody>
      </p:sp>
      <p:sp>
        <p:nvSpPr>
          <p:cNvPr id="4" name="Shape 2"/>
          <p:cNvSpPr/>
          <p:nvPr/>
        </p:nvSpPr>
        <p:spPr>
          <a:xfrm>
            <a:off x="548640" y="1600200"/>
            <a:ext cx="3505200" cy="4480560"/>
          </a:xfrm>
          <a:prstGeom prst="roundRect">
            <a:avLst>
              <a:gd name="adj" fmla="val 2087"/>
            </a:avLst>
          </a:prstGeom>
          <a:solidFill>
            <a:srgbClr val="F4FAF9"/>
          </a:solidFill>
          <a:ln w="12700">
            <a:solidFill>
              <a:srgbClr val="DCE9E7"/>
            </a:solidFill>
            <a:prstDash val="solid"/>
          </a:ln>
          <a:effectLst>
            <a:outerShdw blurRad="76200" dist="25400" dir="5400000" algn="bl" rotWithShape="0">
              <a:srgbClr val="1B3A3A">
                <a:alpha val="12000"/>
              </a:srgbClr>
            </a:outerShdw>
          </a:effectLst>
        </p:spPr>
      </p:sp>
      <p:sp>
        <p:nvSpPr>
          <p:cNvPr id="5" name="Shape 3"/>
          <p:cNvSpPr/>
          <p:nvPr/>
        </p:nvSpPr>
        <p:spPr>
          <a:xfrm>
            <a:off x="822960" y="1874520"/>
            <a:ext cx="502920" cy="502920"/>
          </a:xfrm>
          <a:prstGeom prst="ellipse">
            <a:avLst/>
          </a:prstGeom>
          <a:solidFill>
            <a:srgbClr val="028090"/>
          </a:solidFill>
          <a:ln/>
        </p:spPr>
      </p:sp>
      <p:sp>
        <p:nvSpPr>
          <p:cNvPr id="6" name="Text 4"/>
          <p:cNvSpPr/>
          <p:nvPr/>
        </p:nvSpPr>
        <p:spPr>
          <a:xfrm>
            <a:off x="822960" y="1874520"/>
            <a:ext cx="502920" cy="50292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822960" y="2514600"/>
            <a:ext cx="2956560" cy="411480"/>
          </a:xfrm>
          <a:prstGeom prst="rect">
            <a:avLst/>
          </a:prstGeom>
          <a:noFill/>
          <a:ln/>
        </p:spPr>
        <p:txBody>
          <a:bodyPr wrap="square" rtlCol="0" anchor="ctr"/>
          <a:lstStyle/>
          <a:p>
            <a:pPr marL="0" indent="0">
              <a:buNone/>
            </a:pPr>
            <a:r>
              <a:rPr lang="en-US" sz="1700" b="1" dirty="0">
                <a:solidFill>
                  <a:srgbClr val="16282A"/>
                </a:solidFill>
                <a:latin typeface="Cambria" pitchFamily="34" charset="0"/>
                <a:ea typeface="Cambria" pitchFamily="34" charset="-122"/>
                <a:cs typeface="Cambria" pitchFamily="34" charset="-120"/>
              </a:rPr>
              <a:t>Business Challenge</a:t>
            </a:r>
            <a:endParaRPr lang="en-US" sz="1700" dirty="0"/>
          </a:p>
        </p:txBody>
      </p:sp>
      <p:sp>
        <p:nvSpPr>
          <p:cNvPr id="8" name="Text 6"/>
          <p:cNvSpPr/>
          <p:nvPr/>
        </p:nvSpPr>
        <p:spPr>
          <a:xfrm>
            <a:off x="822960" y="3017520"/>
            <a:ext cx="2956560" cy="2788920"/>
          </a:xfrm>
          <a:prstGeom prst="rect">
            <a:avLst/>
          </a:prstGeom>
          <a:noFill/>
          <a:ln/>
        </p:spPr>
        <p:txBody>
          <a:bodyPr wrap="square" rtlCol="0" anchor="t"/>
          <a:lstStyle/>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Subscription customers are cancelling with no early-warning system in place</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Customer, subscription, and support data live in three disconnected sources</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Leadership lacks visibility into which segments, plans, and regions drive revenue loss</a:t>
            </a:r>
            <a:endParaRPr lang="en-US" sz="1200" dirty="0"/>
          </a:p>
        </p:txBody>
      </p:sp>
      <p:sp>
        <p:nvSpPr>
          <p:cNvPr id="9" name="Shape 7"/>
          <p:cNvSpPr/>
          <p:nvPr/>
        </p:nvSpPr>
        <p:spPr>
          <a:xfrm>
            <a:off x="4373880" y="1600200"/>
            <a:ext cx="3505200" cy="4480560"/>
          </a:xfrm>
          <a:prstGeom prst="roundRect">
            <a:avLst>
              <a:gd name="adj" fmla="val 2087"/>
            </a:avLst>
          </a:prstGeom>
          <a:solidFill>
            <a:srgbClr val="F4FAF9"/>
          </a:solidFill>
          <a:ln w="12700">
            <a:solidFill>
              <a:srgbClr val="DCE9E7"/>
            </a:solidFill>
            <a:prstDash val="solid"/>
          </a:ln>
          <a:effectLst>
            <a:outerShdw blurRad="76200" dist="25400" dir="5400000" algn="bl" rotWithShape="0">
              <a:srgbClr val="1B3A3A">
                <a:alpha val="12000"/>
              </a:srgbClr>
            </a:outerShdw>
          </a:effectLst>
        </p:spPr>
      </p:sp>
      <p:sp>
        <p:nvSpPr>
          <p:cNvPr id="10" name="Shape 8"/>
          <p:cNvSpPr/>
          <p:nvPr/>
        </p:nvSpPr>
        <p:spPr>
          <a:xfrm>
            <a:off x="4648200" y="1874520"/>
            <a:ext cx="502920" cy="502920"/>
          </a:xfrm>
          <a:prstGeom prst="ellipse">
            <a:avLst/>
          </a:prstGeom>
          <a:solidFill>
            <a:srgbClr val="028090"/>
          </a:solidFill>
          <a:ln/>
        </p:spPr>
      </p:sp>
      <p:sp>
        <p:nvSpPr>
          <p:cNvPr id="11" name="Text 9"/>
          <p:cNvSpPr/>
          <p:nvPr/>
        </p:nvSpPr>
        <p:spPr>
          <a:xfrm>
            <a:off x="4648200" y="1874520"/>
            <a:ext cx="502920" cy="50292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4648200" y="2514600"/>
            <a:ext cx="2956560" cy="411480"/>
          </a:xfrm>
          <a:prstGeom prst="rect">
            <a:avLst/>
          </a:prstGeom>
          <a:noFill/>
          <a:ln/>
        </p:spPr>
        <p:txBody>
          <a:bodyPr wrap="square" rtlCol="0" anchor="ctr"/>
          <a:lstStyle/>
          <a:p>
            <a:pPr marL="0" indent="0">
              <a:buNone/>
            </a:pPr>
            <a:r>
              <a:rPr lang="en-US" sz="1700" b="1" dirty="0">
                <a:solidFill>
                  <a:srgbClr val="16282A"/>
                </a:solidFill>
                <a:latin typeface="Cambria" pitchFamily="34" charset="0"/>
                <a:ea typeface="Cambria" pitchFamily="34" charset="-122"/>
                <a:cs typeface="Cambria" pitchFamily="34" charset="-120"/>
              </a:rPr>
              <a:t>Core Tech Used</a:t>
            </a:r>
            <a:endParaRPr lang="en-US" sz="1700" dirty="0"/>
          </a:p>
        </p:txBody>
      </p:sp>
      <p:sp>
        <p:nvSpPr>
          <p:cNvPr id="13" name="Text 11"/>
          <p:cNvSpPr/>
          <p:nvPr/>
        </p:nvSpPr>
        <p:spPr>
          <a:xfrm>
            <a:off x="4648200" y="3017520"/>
            <a:ext cx="2956560" cy="2788920"/>
          </a:xfrm>
          <a:prstGeom prst="rect">
            <a:avLst/>
          </a:prstGeom>
          <a:noFill/>
          <a:ln/>
        </p:spPr>
        <p:txBody>
          <a:bodyPr wrap="square" rtlCol="0" anchor="t"/>
          <a:lstStyle/>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SQLite — source database for customer, subscription &amp; support records</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Python: Pandas &amp; NumPy — data cleaning, merging, feature engineering</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Matplotlib &amp; Seaborn — trend, distribution and correlation visualization</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Jupyter Notebook — end-to-end analysis workflow</a:t>
            </a:r>
            <a:endParaRPr lang="en-US" sz="1200" dirty="0"/>
          </a:p>
        </p:txBody>
      </p:sp>
      <p:sp>
        <p:nvSpPr>
          <p:cNvPr id="14" name="Shape 12"/>
          <p:cNvSpPr/>
          <p:nvPr/>
        </p:nvSpPr>
        <p:spPr>
          <a:xfrm>
            <a:off x="8199120" y="1600200"/>
            <a:ext cx="3505200" cy="4480560"/>
          </a:xfrm>
          <a:prstGeom prst="roundRect">
            <a:avLst>
              <a:gd name="adj" fmla="val 2087"/>
            </a:avLst>
          </a:prstGeom>
          <a:solidFill>
            <a:srgbClr val="F4FAF9"/>
          </a:solidFill>
          <a:ln w="12700">
            <a:solidFill>
              <a:srgbClr val="DCE9E7"/>
            </a:solidFill>
            <a:prstDash val="solid"/>
          </a:ln>
          <a:effectLst>
            <a:outerShdw blurRad="76200" dist="25400" dir="5400000" algn="bl" rotWithShape="0">
              <a:srgbClr val="1B3A3A">
                <a:alpha val="12000"/>
              </a:srgbClr>
            </a:outerShdw>
          </a:effectLst>
        </p:spPr>
      </p:sp>
      <p:sp>
        <p:nvSpPr>
          <p:cNvPr id="15" name="Shape 13"/>
          <p:cNvSpPr/>
          <p:nvPr/>
        </p:nvSpPr>
        <p:spPr>
          <a:xfrm>
            <a:off x="8473440" y="1874520"/>
            <a:ext cx="502920" cy="502920"/>
          </a:xfrm>
          <a:prstGeom prst="ellipse">
            <a:avLst/>
          </a:prstGeom>
          <a:solidFill>
            <a:srgbClr val="028090"/>
          </a:solidFill>
          <a:ln/>
        </p:spPr>
      </p:sp>
      <p:sp>
        <p:nvSpPr>
          <p:cNvPr id="16" name="Text 14"/>
          <p:cNvSpPr/>
          <p:nvPr/>
        </p:nvSpPr>
        <p:spPr>
          <a:xfrm>
            <a:off x="8473440" y="1874520"/>
            <a:ext cx="502920" cy="50292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p:cNvSpPr/>
          <p:nvPr/>
        </p:nvSpPr>
        <p:spPr>
          <a:xfrm>
            <a:off x="8473440" y="2514600"/>
            <a:ext cx="2956560" cy="411480"/>
          </a:xfrm>
          <a:prstGeom prst="rect">
            <a:avLst/>
          </a:prstGeom>
          <a:noFill/>
          <a:ln/>
        </p:spPr>
        <p:txBody>
          <a:bodyPr wrap="square" rtlCol="0" anchor="ctr"/>
          <a:lstStyle/>
          <a:p>
            <a:pPr marL="0" indent="0">
              <a:buNone/>
            </a:pPr>
            <a:r>
              <a:rPr lang="en-US" sz="1700" b="1" dirty="0">
                <a:solidFill>
                  <a:srgbClr val="16282A"/>
                </a:solidFill>
                <a:latin typeface="Cambria" pitchFamily="34" charset="0"/>
                <a:ea typeface="Cambria" pitchFamily="34" charset="-122"/>
                <a:cs typeface="Cambria" pitchFamily="34" charset="-120"/>
              </a:rPr>
              <a:t>Project Milestone</a:t>
            </a:r>
            <a:endParaRPr lang="en-US" sz="1700" dirty="0"/>
          </a:p>
        </p:txBody>
      </p:sp>
      <p:sp>
        <p:nvSpPr>
          <p:cNvPr id="18" name="Text 16"/>
          <p:cNvSpPr/>
          <p:nvPr/>
        </p:nvSpPr>
        <p:spPr>
          <a:xfrm>
            <a:off x="8473440" y="3017520"/>
            <a:ext cx="2956560" cy="2788920"/>
          </a:xfrm>
          <a:prstGeom prst="rect">
            <a:avLst/>
          </a:prstGeom>
          <a:noFill/>
          <a:ln/>
        </p:spPr>
        <p:txBody>
          <a:bodyPr wrap="square" rtlCol="0" anchor="t"/>
          <a:lstStyle/>
          <a:p>
            <a:pPr>
              <a:lnSpc>
                <a:spcPts val="1600"/>
              </a:lnSpc>
              <a:spcAft>
                <a:spcPts val="1000"/>
              </a:spcAft>
              <a:buSzPct val="100000"/>
            </a:pPr>
            <a:r>
              <a:rPr lang="en-US" sz="1200" dirty="0">
                <a:solidFill>
                  <a:srgbClr val="16282A"/>
                </a:solidFill>
                <a:latin typeface="Calibri" pitchFamily="34" charset="0"/>
                <a:ea typeface="Calibri" pitchFamily="34" charset="-122"/>
                <a:cs typeface="Calibri" pitchFamily="34" charset="-120"/>
              </a:rPr>
              <a:t>• Relational Data Extraction: Connecting   Python to SQL databases to pull multi-table    datasets.</a:t>
            </a:r>
          </a:p>
          <a:p>
            <a:pPr>
              <a:lnSpc>
                <a:spcPts val="1600"/>
              </a:lnSpc>
              <a:spcAft>
                <a:spcPts val="1000"/>
              </a:spcAft>
              <a:buSzPct val="100000"/>
            </a:pPr>
            <a:r>
              <a:rPr lang="en-US" sz="1200" dirty="0">
                <a:solidFill>
                  <a:srgbClr val="16282A"/>
                </a:solidFill>
                <a:latin typeface="Calibri" pitchFamily="34" charset="0"/>
                <a:ea typeface="Calibri" pitchFamily="34" charset="-122"/>
                <a:cs typeface="Calibri" pitchFamily="34" charset="-120"/>
              </a:rPr>
              <a:t>• Advanced Feature Engineering: Data imports, calculating tenure, churn rates, and customer aging.</a:t>
            </a:r>
          </a:p>
          <a:p>
            <a:pPr>
              <a:lnSpc>
                <a:spcPts val="1600"/>
              </a:lnSpc>
              <a:spcAft>
                <a:spcPts val="1000"/>
              </a:spcAft>
              <a:buSzPct val="100000"/>
            </a:pPr>
            <a:r>
              <a:rPr lang="en-US" sz="1200" dirty="0">
                <a:solidFill>
                  <a:srgbClr val="16282A"/>
                </a:solidFill>
                <a:latin typeface="Calibri" pitchFamily="34" charset="0"/>
                <a:ea typeface="Calibri" pitchFamily="34" charset="-122"/>
                <a:cs typeface="Calibri" pitchFamily="34" charset="-120"/>
              </a:rPr>
              <a:t>• Executive Reporting: Translating technical findings into billion-dollar business insights.</a:t>
            </a:r>
            <a:endParaRPr lang="en-US" sz="1200" dirty="0"/>
          </a:p>
        </p:txBody>
      </p:sp>
      <p:sp>
        <p:nvSpPr>
          <p:cNvPr id="19" name="Text 17"/>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20" name="Text 18"/>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48640" y="685800"/>
            <a:ext cx="10058400" cy="548640"/>
          </a:xfrm>
          <a:prstGeom prst="rect">
            <a:avLst/>
          </a:prstGeom>
          <a:noFill/>
          <a:ln/>
        </p:spPr>
        <p:txBody>
          <a:bodyPr wrap="square" rtlCol="0" anchor="ctr"/>
          <a:lstStyle/>
          <a:p>
            <a:pPr marL="0" indent="0">
              <a:buNone/>
            </a:pPr>
            <a:r>
              <a:rPr lang="en-US" sz="3000" b="1" dirty="0">
                <a:solidFill>
                  <a:srgbClr val="16282A"/>
                </a:solidFill>
                <a:latin typeface="Cambria" pitchFamily="34" charset="0"/>
                <a:ea typeface="Cambria" pitchFamily="34" charset="-122"/>
                <a:cs typeface="Cambria" pitchFamily="34" charset="-120"/>
              </a:rPr>
              <a:t>Churn Analysis Roadmap</a:t>
            </a:r>
            <a:endParaRPr lang="en-US" sz="3000" dirty="0"/>
          </a:p>
        </p:txBody>
      </p:sp>
      <p:sp>
        <p:nvSpPr>
          <p:cNvPr id="4" name="Shape 2"/>
          <p:cNvSpPr/>
          <p:nvPr/>
        </p:nvSpPr>
        <p:spPr>
          <a:xfrm>
            <a:off x="1394460" y="2560320"/>
            <a:ext cx="9464040" cy="0"/>
          </a:xfrm>
          <a:prstGeom prst="line">
            <a:avLst/>
          </a:prstGeom>
          <a:noFill/>
          <a:ln w="25400">
            <a:solidFill>
              <a:srgbClr val="DCE9E7"/>
            </a:solidFill>
            <a:prstDash val="dash"/>
          </a:ln>
        </p:spPr>
      </p:sp>
      <p:sp>
        <p:nvSpPr>
          <p:cNvPr id="5" name="Shape 3"/>
          <p:cNvSpPr/>
          <p:nvPr/>
        </p:nvSpPr>
        <p:spPr>
          <a:xfrm>
            <a:off x="982980" y="2148840"/>
            <a:ext cx="822960" cy="822960"/>
          </a:xfrm>
          <a:prstGeom prst="ellipse">
            <a:avLst/>
          </a:prstGeom>
          <a:solidFill>
            <a:srgbClr val="028090"/>
          </a:solidFill>
          <a:ln/>
        </p:spPr>
      </p:sp>
      <p:sp>
        <p:nvSpPr>
          <p:cNvPr id="6" name="Text 4"/>
          <p:cNvSpPr/>
          <p:nvPr/>
        </p:nvSpPr>
        <p:spPr>
          <a:xfrm>
            <a:off x="982980"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01</a:t>
            </a:r>
            <a:endParaRPr lang="en-US" sz="2000" dirty="0"/>
          </a:p>
        </p:txBody>
      </p:sp>
      <p:sp>
        <p:nvSpPr>
          <p:cNvPr id="7" name="Shape 5"/>
          <p:cNvSpPr/>
          <p:nvPr/>
        </p:nvSpPr>
        <p:spPr>
          <a:xfrm>
            <a:off x="548640" y="3200400"/>
            <a:ext cx="1691640" cy="2651760"/>
          </a:xfrm>
          <a:prstGeom prst="roundRect">
            <a:avLst>
              <a:gd name="adj" fmla="val 3243"/>
            </a:avLst>
          </a:prstGeom>
          <a:solidFill>
            <a:srgbClr val="F4FAF9"/>
          </a:solidFill>
          <a:ln w="12700">
            <a:solidFill>
              <a:srgbClr val="DCE9E7"/>
            </a:solidFill>
            <a:prstDash val="solid"/>
          </a:ln>
        </p:spPr>
      </p:sp>
      <p:sp>
        <p:nvSpPr>
          <p:cNvPr id="8" name="Text 6"/>
          <p:cNvSpPr/>
          <p:nvPr/>
        </p:nvSpPr>
        <p:spPr>
          <a:xfrm>
            <a:off x="658368" y="3337560"/>
            <a:ext cx="1472184" cy="502920"/>
          </a:xfrm>
          <a:prstGeom prst="rect">
            <a:avLst/>
          </a:prstGeom>
          <a:noFill/>
          <a:ln/>
        </p:spPr>
        <p:txBody>
          <a:bodyPr wrap="square" rtlCol="0" anchor="ctr"/>
          <a:lstStyle/>
          <a:p>
            <a:pPr marL="0" indent="0" algn="ctr">
              <a:buNone/>
            </a:pPr>
            <a:r>
              <a:rPr lang="en-US" sz="1300" b="1" dirty="0">
                <a:solidFill>
                  <a:srgbClr val="16282A"/>
                </a:solidFill>
                <a:latin typeface="Cambria" pitchFamily="34" charset="0"/>
                <a:ea typeface="Cambria" pitchFamily="34" charset="-122"/>
                <a:cs typeface="Cambria" pitchFamily="34" charset="-120"/>
              </a:rPr>
              <a:t>Data Import</a:t>
            </a:r>
            <a:endParaRPr lang="en-US" sz="1300" dirty="0"/>
          </a:p>
        </p:txBody>
      </p:sp>
      <p:sp>
        <p:nvSpPr>
          <p:cNvPr id="9" name="Text 7"/>
          <p:cNvSpPr/>
          <p:nvPr/>
        </p:nvSpPr>
        <p:spPr>
          <a:xfrm>
            <a:off x="658368" y="3886200"/>
            <a:ext cx="1472184" cy="1874520"/>
          </a:xfrm>
          <a:prstGeom prst="rect">
            <a:avLst/>
          </a:prstGeom>
          <a:noFill/>
          <a:ln/>
        </p:spPr>
        <p:txBody>
          <a:bodyPr wrap="square" rtlCol="0" anchor="ctr"/>
          <a:lstStyle/>
          <a:p>
            <a:pPr marL="0" indent="0" algn="ctr">
              <a:lnSpc>
                <a:spcPts val="1300"/>
              </a:lnSpc>
              <a:buNone/>
            </a:pPr>
            <a:r>
              <a:rPr lang="en-US" sz="1050" dirty="0">
                <a:solidFill>
                  <a:srgbClr val="5C7275"/>
                </a:solidFill>
                <a:latin typeface="Calibri" pitchFamily="34" charset="0"/>
                <a:ea typeface="Calibri" pitchFamily="34" charset="-122"/>
                <a:cs typeface="Calibri" pitchFamily="34" charset="-120"/>
              </a:rPr>
              <a:t>Connect to SQLite DB; load customer, subscription &amp; support tables into Pandas</a:t>
            </a:r>
            <a:endParaRPr lang="en-US" sz="1050" dirty="0"/>
          </a:p>
        </p:txBody>
      </p:sp>
      <p:sp>
        <p:nvSpPr>
          <p:cNvPr id="10" name="Shape 8"/>
          <p:cNvSpPr/>
          <p:nvPr/>
        </p:nvSpPr>
        <p:spPr>
          <a:xfrm>
            <a:off x="2875788" y="2148840"/>
            <a:ext cx="822960" cy="822960"/>
          </a:xfrm>
          <a:prstGeom prst="ellipse">
            <a:avLst/>
          </a:prstGeom>
          <a:solidFill>
            <a:srgbClr val="00A896"/>
          </a:solidFill>
          <a:ln/>
        </p:spPr>
      </p:sp>
      <p:sp>
        <p:nvSpPr>
          <p:cNvPr id="11" name="Text 9"/>
          <p:cNvSpPr/>
          <p:nvPr/>
        </p:nvSpPr>
        <p:spPr>
          <a:xfrm>
            <a:off x="2875788"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02</a:t>
            </a:r>
            <a:endParaRPr lang="en-US" sz="2000" dirty="0"/>
          </a:p>
        </p:txBody>
      </p:sp>
      <p:sp>
        <p:nvSpPr>
          <p:cNvPr id="12" name="Shape 10"/>
          <p:cNvSpPr/>
          <p:nvPr/>
        </p:nvSpPr>
        <p:spPr>
          <a:xfrm>
            <a:off x="2441448" y="3200400"/>
            <a:ext cx="1691640" cy="2651760"/>
          </a:xfrm>
          <a:prstGeom prst="roundRect">
            <a:avLst>
              <a:gd name="adj" fmla="val 3243"/>
            </a:avLst>
          </a:prstGeom>
          <a:solidFill>
            <a:srgbClr val="F4FAF9"/>
          </a:solidFill>
          <a:ln w="12700">
            <a:solidFill>
              <a:srgbClr val="DCE9E7"/>
            </a:solidFill>
            <a:prstDash val="solid"/>
          </a:ln>
        </p:spPr>
      </p:sp>
      <p:sp>
        <p:nvSpPr>
          <p:cNvPr id="13" name="Text 11"/>
          <p:cNvSpPr/>
          <p:nvPr/>
        </p:nvSpPr>
        <p:spPr>
          <a:xfrm>
            <a:off x="2551176" y="3337560"/>
            <a:ext cx="1472184" cy="502920"/>
          </a:xfrm>
          <a:prstGeom prst="rect">
            <a:avLst/>
          </a:prstGeom>
          <a:noFill/>
          <a:ln/>
        </p:spPr>
        <p:txBody>
          <a:bodyPr wrap="square" rtlCol="0" anchor="ctr"/>
          <a:lstStyle/>
          <a:p>
            <a:pPr marL="0" indent="0" algn="ctr">
              <a:buNone/>
            </a:pPr>
            <a:r>
              <a:rPr lang="en-US" sz="1300" b="1" dirty="0">
                <a:solidFill>
                  <a:srgbClr val="16282A"/>
                </a:solidFill>
                <a:latin typeface="Cambria" pitchFamily="34" charset="0"/>
                <a:ea typeface="Cambria" pitchFamily="34" charset="-122"/>
                <a:cs typeface="Cambria" pitchFamily="34" charset="-120"/>
              </a:rPr>
              <a:t>Data Cleaning</a:t>
            </a:r>
            <a:endParaRPr lang="en-US" sz="1300" dirty="0"/>
          </a:p>
        </p:txBody>
      </p:sp>
      <p:sp>
        <p:nvSpPr>
          <p:cNvPr id="14" name="Text 12"/>
          <p:cNvSpPr/>
          <p:nvPr/>
        </p:nvSpPr>
        <p:spPr>
          <a:xfrm>
            <a:off x="2551176" y="3886200"/>
            <a:ext cx="1472184" cy="1874520"/>
          </a:xfrm>
          <a:prstGeom prst="rect">
            <a:avLst/>
          </a:prstGeom>
          <a:noFill/>
          <a:ln/>
        </p:spPr>
        <p:txBody>
          <a:bodyPr wrap="square" rtlCol="0" anchor="ctr"/>
          <a:lstStyle/>
          <a:p>
            <a:pPr marL="0" indent="0" algn="ctr">
              <a:lnSpc>
                <a:spcPts val="1300"/>
              </a:lnSpc>
              <a:buNone/>
            </a:pPr>
            <a:r>
              <a:rPr lang="en-US" sz="1050" dirty="0">
                <a:solidFill>
                  <a:srgbClr val="5C7275"/>
                </a:solidFill>
                <a:latin typeface="Calibri" pitchFamily="34" charset="0"/>
                <a:ea typeface="Calibri" pitchFamily="34" charset="-122"/>
                <a:cs typeface="Calibri" pitchFamily="34" charset="-120"/>
              </a:rPr>
              <a:t>Rename &amp; drop columns, fix data types, standardize gender, impute missing country</a:t>
            </a:r>
            <a:endParaRPr lang="en-US" sz="1050" dirty="0"/>
          </a:p>
        </p:txBody>
      </p:sp>
      <p:sp>
        <p:nvSpPr>
          <p:cNvPr id="15" name="Shape 13"/>
          <p:cNvSpPr/>
          <p:nvPr/>
        </p:nvSpPr>
        <p:spPr>
          <a:xfrm>
            <a:off x="4768596" y="2148840"/>
            <a:ext cx="822960" cy="822960"/>
          </a:xfrm>
          <a:prstGeom prst="ellipse">
            <a:avLst/>
          </a:prstGeom>
          <a:solidFill>
            <a:srgbClr val="028090"/>
          </a:solidFill>
          <a:ln/>
        </p:spPr>
      </p:sp>
      <p:sp>
        <p:nvSpPr>
          <p:cNvPr id="16" name="Text 14"/>
          <p:cNvSpPr/>
          <p:nvPr/>
        </p:nvSpPr>
        <p:spPr>
          <a:xfrm>
            <a:off x="4768596"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03</a:t>
            </a:r>
            <a:endParaRPr lang="en-US" sz="2000" dirty="0"/>
          </a:p>
        </p:txBody>
      </p:sp>
      <p:sp>
        <p:nvSpPr>
          <p:cNvPr id="17" name="Shape 15"/>
          <p:cNvSpPr/>
          <p:nvPr/>
        </p:nvSpPr>
        <p:spPr>
          <a:xfrm>
            <a:off x="4334256" y="3200400"/>
            <a:ext cx="1691640" cy="2651760"/>
          </a:xfrm>
          <a:prstGeom prst="roundRect">
            <a:avLst>
              <a:gd name="adj" fmla="val 3243"/>
            </a:avLst>
          </a:prstGeom>
          <a:solidFill>
            <a:srgbClr val="F4FAF9"/>
          </a:solidFill>
          <a:ln w="12700">
            <a:solidFill>
              <a:srgbClr val="DCE9E7"/>
            </a:solidFill>
            <a:prstDash val="solid"/>
          </a:ln>
        </p:spPr>
      </p:sp>
      <p:sp>
        <p:nvSpPr>
          <p:cNvPr id="18" name="Text 16"/>
          <p:cNvSpPr/>
          <p:nvPr/>
        </p:nvSpPr>
        <p:spPr>
          <a:xfrm>
            <a:off x="4443984" y="3337560"/>
            <a:ext cx="1472184" cy="502920"/>
          </a:xfrm>
          <a:prstGeom prst="rect">
            <a:avLst/>
          </a:prstGeom>
          <a:noFill/>
          <a:ln/>
        </p:spPr>
        <p:txBody>
          <a:bodyPr wrap="square" rtlCol="0" anchor="ctr"/>
          <a:lstStyle/>
          <a:p>
            <a:pPr marL="0" indent="0" algn="ctr">
              <a:buNone/>
            </a:pPr>
            <a:r>
              <a:rPr lang="en-US" sz="1300" b="1" dirty="0">
                <a:solidFill>
                  <a:srgbClr val="16282A"/>
                </a:solidFill>
                <a:latin typeface="Cambria" pitchFamily="34" charset="0"/>
                <a:ea typeface="Cambria" pitchFamily="34" charset="-122"/>
                <a:cs typeface="Cambria" pitchFamily="34" charset="-120"/>
              </a:rPr>
              <a:t>Feature Engineering</a:t>
            </a:r>
            <a:endParaRPr lang="en-US" sz="1300" dirty="0"/>
          </a:p>
        </p:txBody>
      </p:sp>
      <p:sp>
        <p:nvSpPr>
          <p:cNvPr id="19" name="Text 17"/>
          <p:cNvSpPr/>
          <p:nvPr/>
        </p:nvSpPr>
        <p:spPr>
          <a:xfrm>
            <a:off x="4443984" y="3886200"/>
            <a:ext cx="1472184" cy="1874520"/>
          </a:xfrm>
          <a:prstGeom prst="rect">
            <a:avLst/>
          </a:prstGeom>
          <a:noFill/>
          <a:ln/>
        </p:spPr>
        <p:txBody>
          <a:bodyPr wrap="square" rtlCol="0" anchor="ctr"/>
          <a:lstStyle/>
          <a:p>
            <a:pPr marL="0" indent="0" algn="ctr">
              <a:lnSpc>
                <a:spcPts val="1300"/>
              </a:lnSpc>
              <a:buNone/>
            </a:pPr>
            <a:r>
              <a:rPr lang="en-US" sz="1050" dirty="0">
                <a:solidFill>
                  <a:srgbClr val="5C7275"/>
                </a:solidFill>
                <a:latin typeface="Calibri" pitchFamily="34" charset="0"/>
                <a:ea typeface="Calibri" pitchFamily="34" charset="-122"/>
                <a:cs typeface="Calibri" pitchFamily="34" charset="-120"/>
              </a:rPr>
              <a:t>Build churn flag, merge 3 tables, dedupe complaints, add tenure &amp; churn-risk tiers</a:t>
            </a:r>
            <a:endParaRPr lang="en-US" sz="1050" dirty="0"/>
          </a:p>
        </p:txBody>
      </p:sp>
      <p:sp>
        <p:nvSpPr>
          <p:cNvPr id="20" name="Shape 18"/>
          <p:cNvSpPr/>
          <p:nvPr/>
        </p:nvSpPr>
        <p:spPr>
          <a:xfrm>
            <a:off x="6661404" y="2148840"/>
            <a:ext cx="822960" cy="822960"/>
          </a:xfrm>
          <a:prstGeom prst="ellipse">
            <a:avLst/>
          </a:prstGeom>
          <a:solidFill>
            <a:srgbClr val="00A896"/>
          </a:solidFill>
          <a:ln/>
        </p:spPr>
      </p:sp>
      <p:sp>
        <p:nvSpPr>
          <p:cNvPr id="21" name="Text 19"/>
          <p:cNvSpPr/>
          <p:nvPr/>
        </p:nvSpPr>
        <p:spPr>
          <a:xfrm>
            <a:off x="6661404"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04</a:t>
            </a:r>
            <a:endParaRPr lang="en-US" sz="2000" dirty="0"/>
          </a:p>
        </p:txBody>
      </p:sp>
      <p:sp>
        <p:nvSpPr>
          <p:cNvPr id="22" name="Shape 20"/>
          <p:cNvSpPr/>
          <p:nvPr/>
        </p:nvSpPr>
        <p:spPr>
          <a:xfrm>
            <a:off x="6227064" y="3200400"/>
            <a:ext cx="1691640" cy="2651760"/>
          </a:xfrm>
          <a:prstGeom prst="roundRect">
            <a:avLst>
              <a:gd name="adj" fmla="val 3243"/>
            </a:avLst>
          </a:prstGeom>
          <a:solidFill>
            <a:srgbClr val="F4FAF9"/>
          </a:solidFill>
          <a:ln w="12700">
            <a:solidFill>
              <a:srgbClr val="DCE9E7"/>
            </a:solidFill>
            <a:prstDash val="solid"/>
          </a:ln>
        </p:spPr>
      </p:sp>
      <p:sp>
        <p:nvSpPr>
          <p:cNvPr id="23" name="Text 21"/>
          <p:cNvSpPr/>
          <p:nvPr/>
        </p:nvSpPr>
        <p:spPr>
          <a:xfrm>
            <a:off x="6336792" y="3337560"/>
            <a:ext cx="1472184" cy="502920"/>
          </a:xfrm>
          <a:prstGeom prst="rect">
            <a:avLst/>
          </a:prstGeom>
          <a:noFill/>
          <a:ln/>
        </p:spPr>
        <p:txBody>
          <a:bodyPr wrap="square" rtlCol="0" anchor="ctr"/>
          <a:lstStyle/>
          <a:p>
            <a:pPr marL="0" indent="0" algn="ctr">
              <a:buNone/>
            </a:pPr>
            <a:r>
              <a:rPr lang="en-US" sz="1300" b="1" dirty="0">
                <a:solidFill>
                  <a:srgbClr val="16282A"/>
                </a:solidFill>
                <a:latin typeface="Cambria" pitchFamily="34" charset="0"/>
                <a:ea typeface="Cambria" pitchFamily="34" charset="-122"/>
                <a:cs typeface="Cambria" pitchFamily="34" charset="-120"/>
              </a:rPr>
              <a:t>Data Analysis</a:t>
            </a:r>
            <a:endParaRPr lang="en-US" sz="1300" dirty="0"/>
          </a:p>
        </p:txBody>
      </p:sp>
      <p:sp>
        <p:nvSpPr>
          <p:cNvPr id="24" name="Text 22"/>
          <p:cNvSpPr/>
          <p:nvPr/>
        </p:nvSpPr>
        <p:spPr>
          <a:xfrm>
            <a:off x="6336792" y="3886200"/>
            <a:ext cx="1472184" cy="1874520"/>
          </a:xfrm>
          <a:prstGeom prst="rect">
            <a:avLst/>
          </a:prstGeom>
          <a:noFill/>
          <a:ln/>
        </p:spPr>
        <p:txBody>
          <a:bodyPr wrap="square" rtlCol="0" anchor="ctr"/>
          <a:lstStyle/>
          <a:p>
            <a:pPr marL="0" indent="0" algn="ctr">
              <a:lnSpc>
                <a:spcPts val="1300"/>
              </a:lnSpc>
              <a:buNone/>
            </a:pPr>
            <a:r>
              <a:rPr lang="en-US" sz="1050" dirty="0">
                <a:solidFill>
                  <a:srgbClr val="5C7275"/>
                </a:solidFill>
                <a:latin typeface="Calibri" pitchFamily="34" charset="0"/>
                <a:ea typeface="Calibri" pitchFamily="34" charset="-122"/>
                <a:cs typeface="Calibri" pitchFamily="34" charset="-120"/>
              </a:rPr>
              <a:t>Compute churn/retention rate, ARPU, revenue at risk, escalation &amp; correlation</a:t>
            </a:r>
            <a:endParaRPr lang="en-US" sz="1050" dirty="0"/>
          </a:p>
        </p:txBody>
      </p:sp>
      <p:sp>
        <p:nvSpPr>
          <p:cNvPr id="25" name="Shape 23"/>
          <p:cNvSpPr/>
          <p:nvPr/>
        </p:nvSpPr>
        <p:spPr>
          <a:xfrm>
            <a:off x="8554212" y="2148840"/>
            <a:ext cx="822960" cy="822960"/>
          </a:xfrm>
          <a:prstGeom prst="ellipse">
            <a:avLst/>
          </a:prstGeom>
          <a:solidFill>
            <a:srgbClr val="028090"/>
          </a:solidFill>
          <a:ln/>
        </p:spPr>
      </p:sp>
      <p:sp>
        <p:nvSpPr>
          <p:cNvPr id="26" name="Text 24"/>
          <p:cNvSpPr/>
          <p:nvPr/>
        </p:nvSpPr>
        <p:spPr>
          <a:xfrm>
            <a:off x="8554212"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05</a:t>
            </a:r>
            <a:endParaRPr lang="en-US" sz="2000" dirty="0"/>
          </a:p>
        </p:txBody>
      </p:sp>
      <p:sp>
        <p:nvSpPr>
          <p:cNvPr id="27" name="Shape 25"/>
          <p:cNvSpPr/>
          <p:nvPr/>
        </p:nvSpPr>
        <p:spPr>
          <a:xfrm>
            <a:off x="8119872" y="3200400"/>
            <a:ext cx="1691640" cy="2651760"/>
          </a:xfrm>
          <a:prstGeom prst="roundRect">
            <a:avLst>
              <a:gd name="adj" fmla="val 3243"/>
            </a:avLst>
          </a:prstGeom>
          <a:solidFill>
            <a:srgbClr val="F4FAF9"/>
          </a:solidFill>
          <a:ln w="12700">
            <a:solidFill>
              <a:srgbClr val="DCE9E7"/>
            </a:solidFill>
            <a:prstDash val="solid"/>
          </a:ln>
        </p:spPr>
      </p:sp>
      <p:sp>
        <p:nvSpPr>
          <p:cNvPr id="28" name="Text 26"/>
          <p:cNvSpPr/>
          <p:nvPr/>
        </p:nvSpPr>
        <p:spPr>
          <a:xfrm>
            <a:off x="8229600" y="3337560"/>
            <a:ext cx="1472184" cy="502920"/>
          </a:xfrm>
          <a:prstGeom prst="rect">
            <a:avLst/>
          </a:prstGeom>
          <a:noFill/>
          <a:ln/>
        </p:spPr>
        <p:txBody>
          <a:bodyPr wrap="square" rtlCol="0" anchor="ctr"/>
          <a:lstStyle/>
          <a:p>
            <a:pPr marL="0" indent="0" algn="ctr">
              <a:buNone/>
            </a:pPr>
            <a:r>
              <a:rPr lang="en-US" sz="1300" b="1" dirty="0">
                <a:solidFill>
                  <a:srgbClr val="16282A"/>
                </a:solidFill>
                <a:latin typeface="Cambria" pitchFamily="34" charset="0"/>
                <a:ea typeface="Cambria" pitchFamily="34" charset="-122"/>
                <a:cs typeface="Cambria" pitchFamily="34" charset="-120"/>
              </a:rPr>
              <a:t>Visualization</a:t>
            </a:r>
            <a:endParaRPr lang="en-US" sz="1300" dirty="0"/>
          </a:p>
        </p:txBody>
      </p:sp>
      <p:sp>
        <p:nvSpPr>
          <p:cNvPr id="29" name="Text 27"/>
          <p:cNvSpPr/>
          <p:nvPr/>
        </p:nvSpPr>
        <p:spPr>
          <a:xfrm>
            <a:off x="8229600" y="3886200"/>
            <a:ext cx="1472184" cy="1874520"/>
          </a:xfrm>
          <a:prstGeom prst="rect">
            <a:avLst/>
          </a:prstGeom>
          <a:noFill/>
          <a:ln/>
        </p:spPr>
        <p:txBody>
          <a:bodyPr wrap="square" rtlCol="0" anchor="ctr"/>
          <a:lstStyle/>
          <a:p>
            <a:pPr marL="0" indent="0" algn="ctr">
              <a:lnSpc>
                <a:spcPts val="1300"/>
              </a:lnSpc>
              <a:buNone/>
            </a:pPr>
            <a:r>
              <a:rPr lang="en-US" sz="1050" dirty="0">
                <a:solidFill>
                  <a:srgbClr val="5C7275"/>
                </a:solidFill>
                <a:latin typeface="Calibri" pitchFamily="34" charset="0"/>
                <a:ea typeface="Calibri" pitchFamily="34" charset="-122"/>
                <a:cs typeface="Calibri" pitchFamily="34" charset="-120"/>
              </a:rPr>
              <a:t>Trend lines, plan/state bar charts, correlation heatmap &amp; pairplot</a:t>
            </a:r>
            <a:endParaRPr lang="en-US" sz="1050" dirty="0"/>
          </a:p>
        </p:txBody>
      </p:sp>
      <p:sp>
        <p:nvSpPr>
          <p:cNvPr id="30" name="Shape 28"/>
          <p:cNvSpPr/>
          <p:nvPr/>
        </p:nvSpPr>
        <p:spPr>
          <a:xfrm>
            <a:off x="10447020" y="2148840"/>
            <a:ext cx="822960" cy="822960"/>
          </a:xfrm>
          <a:prstGeom prst="ellipse">
            <a:avLst/>
          </a:prstGeom>
          <a:solidFill>
            <a:srgbClr val="00A896"/>
          </a:solidFill>
          <a:ln/>
        </p:spPr>
      </p:sp>
      <p:sp>
        <p:nvSpPr>
          <p:cNvPr id="31" name="Text 29"/>
          <p:cNvSpPr/>
          <p:nvPr/>
        </p:nvSpPr>
        <p:spPr>
          <a:xfrm>
            <a:off x="10447020"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06</a:t>
            </a:r>
            <a:endParaRPr lang="en-US" sz="2000" dirty="0"/>
          </a:p>
        </p:txBody>
      </p:sp>
      <p:sp>
        <p:nvSpPr>
          <p:cNvPr id="32" name="Shape 30"/>
          <p:cNvSpPr/>
          <p:nvPr/>
        </p:nvSpPr>
        <p:spPr>
          <a:xfrm>
            <a:off x="10012680" y="3200400"/>
            <a:ext cx="1691640" cy="2651760"/>
          </a:xfrm>
          <a:prstGeom prst="roundRect">
            <a:avLst>
              <a:gd name="adj" fmla="val 3243"/>
            </a:avLst>
          </a:prstGeom>
          <a:solidFill>
            <a:srgbClr val="F4FAF9"/>
          </a:solidFill>
          <a:ln w="12700">
            <a:solidFill>
              <a:srgbClr val="DCE9E7"/>
            </a:solidFill>
            <a:prstDash val="solid"/>
          </a:ln>
        </p:spPr>
      </p:sp>
      <p:sp>
        <p:nvSpPr>
          <p:cNvPr id="33" name="Text 31"/>
          <p:cNvSpPr/>
          <p:nvPr/>
        </p:nvSpPr>
        <p:spPr>
          <a:xfrm>
            <a:off x="10122408" y="3337560"/>
            <a:ext cx="1472184" cy="502920"/>
          </a:xfrm>
          <a:prstGeom prst="rect">
            <a:avLst/>
          </a:prstGeom>
          <a:noFill/>
          <a:ln/>
        </p:spPr>
        <p:txBody>
          <a:bodyPr wrap="square" rtlCol="0" anchor="ctr"/>
          <a:lstStyle/>
          <a:p>
            <a:pPr marL="0" indent="0" algn="ctr">
              <a:buNone/>
            </a:pPr>
            <a:r>
              <a:rPr lang="en-US" sz="1300" b="1" dirty="0">
                <a:solidFill>
                  <a:srgbClr val="16282A"/>
                </a:solidFill>
                <a:latin typeface="Cambria" pitchFamily="34" charset="0"/>
                <a:ea typeface="Cambria" pitchFamily="34" charset="-122"/>
                <a:cs typeface="Cambria" pitchFamily="34" charset="-120"/>
              </a:rPr>
              <a:t>Insights &amp; Action</a:t>
            </a:r>
            <a:endParaRPr lang="en-US" sz="1300" dirty="0"/>
          </a:p>
        </p:txBody>
      </p:sp>
      <p:sp>
        <p:nvSpPr>
          <p:cNvPr id="34" name="Text 32"/>
          <p:cNvSpPr/>
          <p:nvPr/>
        </p:nvSpPr>
        <p:spPr>
          <a:xfrm>
            <a:off x="10122408" y="3886200"/>
            <a:ext cx="1472184" cy="1874520"/>
          </a:xfrm>
          <a:prstGeom prst="rect">
            <a:avLst/>
          </a:prstGeom>
          <a:noFill/>
          <a:ln/>
        </p:spPr>
        <p:txBody>
          <a:bodyPr wrap="square" rtlCol="0" anchor="ctr"/>
          <a:lstStyle/>
          <a:p>
            <a:pPr marL="0" indent="0" algn="ctr">
              <a:lnSpc>
                <a:spcPts val="1300"/>
              </a:lnSpc>
              <a:buNone/>
            </a:pPr>
            <a:r>
              <a:rPr lang="en-US" sz="1050" dirty="0">
                <a:solidFill>
                  <a:srgbClr val="5C7275"/>
                </a:solidFill>
                <a:latin typeface="Calibri" pitchFamily="34" charset="0"/>
                <a:ea typeface="Calibri" pitchFamily="34" charset="-122"/>
                <a:cs typeface="Calibri" pitchFamily="34" charset="-120"/>
              </a:rPr>
              <a:t>Translate findings into targeted retention actions for at-risk segments</a:t>
            </a:r>
            <a:endParaRPr lang="en-US" sz="1050" dirty="0"/>
          </a:p>
        </p:txBody>
      </p:sp>
      <p:sp>
        <p:nvSpPr>
          <p:cNvPr id="35" name="Text 33"/>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36" name="Text 34"/>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DEFINITIONS</a:t>
            </a:r>
            <a:endParaRPr lang="en-US" sz="1200" dirty="0"/>
          </a:p>
        </p:txBody>
      </p:sp>
      <p:sp>
        <p:nvSpPr>
          <p:cNvPr id="3" name="Text 1"/>
          <p:cNvSpPr/>
          <p:nvPr/>
        </p:nvSpPr>
        <p:spPr>
          <a:xfrm>
            <a:off x="548640" y="685800"/>
            <a:ext cx="10058400" cy="548640"/>
          </a:xfrm>
          <a:prstGeom prst="rect">
            <a:avLst/>
          </a:prstGeom>
          <a:noFill/>
          <a:ln/>
        </p:spPr>
        <p:txBody>
          <a:bodyPr wrap="square" rtlCol="0" anchor="ctr"/>
          <a:lstStyle/>
          <a:p>
            <a:pPr marL="0" indent="0">
              <a:buNone/>
            </a:pPr>
            <a:r>
              <a:rPr lang="en-US" sz="3000" b="1" dirty="0">
                <a:solidFill>
                  <a:srgbClr val="16282A"/>
                </a:solidFill>
                <a:latin typeface="Cambria" pitchFamily="34" charset="0"/>
                <a:ea typeface="Cambria" pitchFamily="34" charset="-122"/>
                <a:cs typeface="Cambria" pitchFamily="34" charset="-120"/>
              </a:rPr>
              <a:t>What Do These Terms Mean?</a:t>
            </a:r>
            <a:endParaRPr lang="en-US" sz="3000" dirty="0"/>
          </a:p>
        </p:txBody>
      </p:sp>
      <p:sp>
        <p:nvSpPr>
          <p:cNvPr id="4" name="Shape 2"/>
          <p:cNvSpPr/>
          <p:nvPr/>
        </p:nvSpPr>
        <p:spPr>
          <a:xfrm>
            <a:off x="548640" y="1737360"/>
            <a:ext cx="5029200" cy="4297680"/>
          </a:xfrm>
          <a:prstGeom prst="roundRect">
            <a:avLst>
              <a:gd name="adj" fmla="val 1702"/>
            </a:avLst>
          </a:prstGeom>
          <a:solidFill>
            <a:srgbClr val="028090"/>
          </a:solidFill>
          <a:ln/>
        </p:spPr>
      </p:sp>
      <p:sp>
        <p:nvSpPr>
          <p:cNvPr id="5" name="Text 3"/>
          <p:cNvSpPr/>
          <p:nvPr/>
        </p:nvSpPr>
        <p:spPr>
          <a:xfrm>
            <a:off x="914400" y="2057400"/>
            <a:ext cx="429768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Churn Analysis</a:t>
            </a:r>
            <a:endParaRPr lang="en-US" sz="2000" dirty="0"/>
          </a:p>
        </p:txBody>
      </p:sp>
      <p:sp>
        <p:nvSpPr>
          <p:cNvPr id="6" name="Shape 4"/>
          <p:cNvSpPr/>
          <p:nvPr/>
        </p:nvSpPr>
        <p:spPr>
          <a:xfrm>
            <a:off x="914400" y="2606040"/>
            <a:ext cx="731520" cy="0"/>
          </a:xfrm>
          <a:prstGeom prst="line">
            <a:avLst/>
          </a:prstGeom>
          <a:noFill/>
          <a:ln w="25400">
            <a:solidFill>
              <a:srgbClr val="FFFFFF"/>
            </a:solidFill>
            <a:prstDash val="solid"/>
          </a:ln>
        </p:spPr>
      </p:sp>
      <p:sp>
        <p:nvSpPr>
          <p:cNvPr id="7" name="Text 5"/>
          <p:cNvSpPr/>
          <p:nvPr/>
        </p:nvSpPr>
        <p:spPr>
          <a:xfrm>
            <a:off x="914400" y="2788920"/>
            <a:ext cx="4297680" cy="1005840"/>
          </a:xfrm>
          <a:prstGeom prst="rect">
            <a:avLst/>
          </a:prstGeom>
          <a:noFill/>
          <a:ln/>
        </p:spPr>
        <p:txBody>
          <a:bodyPr wrap="square" rtlCol="0" anchor="ctr"/>
          <a:lstStyle/>
          <a:p>
            <a:pPr marL="0" indent="0">
              <a:lnSpc>
                <a:spcPts val="1800"/>
              </a:lnSpc>
              <a:buNone/>
            </a:pPr>
            <a:r>
              <a:rPr lang="en-US" sz="1350" i="1" dirty="0">
                <a:solidFill>
                  <a:srgbClr val="EAFBF8"/>
                </a:solidFill>
                <a:latin typeface="Cambria" pitchFamily="34" charset="0"/>
                <a:ea typeface="Cambria" pitchFamily="34" charset="-122"/>
                <a:cs typeface="Cambria" pitchFamily="34" charset="-120"/>
              </a:rPr>
              <a:t>The process of identifying customers who stop using a product or service, and understanding why they leave.</a:t>
            </a:r>
            <a:endParaRPr lang="en-US" sz="1350" dirty="0"/>
          </a:p>
        </p:txBody>
      </p:sp>
      <p:sp>
        <p:nvSpPr>
          <p:cNvPr id="8" name="Text 6"/>
          <p:cNvSpPr/>
          <p:nvPr/>
        </p:nvSpPr>
        <p:spPr>
          <a:xfrm>
            <a:off x="914400" y="3977640"/>
            <a:ext cx="4297680" cy="1783080"/>
          </a:xfrm>
          <a:prstGeom prst="rect">
            <a:avLst/>
          </a:prstGeom>
          <a:noFill/>
          <a:ln/>
        </p:spPr>
        <p:txBody>
          <a:bodyPr wrap="square" rtlCol="0" anchor="ctr"/>
          <a:lstStyle/>
          <a:p>
            <a:pPr marL="177800" indent="-177800">
              <a:lnSpc>
                <a:spcPts val="16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Measures how many customers cancel over a given period (churn rate)</a:t>
            </a:r>
            <a:endParaRPr lang="en-US" sz="1250" dirty="0"/>
          </a:p>
          <a:p>
            <a:pPr marL="177800" indent="-177800">
              <a:lnSpc>
                <a:spcPts val="16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Diagnoses root causes — pricing, service issues, plan fit, competition</a:t>
            </a:r>
            <a:endParaRPr lang="en-US" sz="1250" dirty="0"/>
          </a:p>
          <a:p>
            <a:pPr marL="177800" indent="-177800">
              <a:lnSpc>
                <a:spcPts val="16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Feeds early-warning scores so at-risk customers can be flagged before they leave</a:t>
            </a:r>
            <a:endParaRPr lang="en-US" sz="1250" dirty="0"/>
          </a:p>
        </p:txBody>
      </p:sp>
      <p:sp>
        <p:nvSpPr>
          <p:cNvPr id="9" name="Shape 7"/>
          <p:cNvSpPr/>
          <p:nvPr/>
        </p:nvSpPr>
        <p:spPr>
          <a:xfrm>
            <a:off x="6217920" y="1737360"/>
            <a:ext cx="5029200" cy="4297680"/>
          </a:xfrm>
          <a:prstGeom prst="roundRect">
            <a:avLst>
              <a:gd name="adj" fmla="val 1702"/>
            </a:avLst>
          </a:prstGeom>
          <a:solidFill>
            <a:srgbClr val="00A896"/>
          </a:solidFill>
          <a:ln/>
        </p:spPr>
      </p:sp>
      <p:sp>
        <p:nvSpPr>
          <p:cNvPr id="10" name="Text 8"/>
          <p:cNvSpPr/>
          <p:nvPr/>
        </p:nvSpPr>
        <p:spPr>
          <a:xfrm>
            <a:off x="6583680" y="2057400"/>
            <a:ext cx="429768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Customer Intelligence</a:t>
            </a:r>
            <a:endParaRPr lang="en-US" sz="2000" dirty="0"/>
          </a:p>
        </p:txBody>
      </p:sp>
      <p:sp>
        <p:nvSpPr>
          <p:cNvPr id="11" name="Shape 9"/>
          <p:cNvSpPr/>
          <p:nvPr/>
        </p:nvSpPr>
        <p:spPr>
          <a:xfrm>
            <a:off x="6583680" y="2606040"/>
            <a:ext cx="731520" cy="0"/>
          </a:xfrm>
          <a:prstGeom prst="line">
            <a:avLst/>
          </a:prstGeom>
          <a:noFill/>
          <a:ln w="25400">
            <a:solidFill>
              <a:srgbClr val="FFFFFF"/>
            </a:solidFill>
            <a:prstDash val="solid"/>
          </a:ln>
        </p:spPr>
      </p:sp>
      <p:sp>
        <p:nvSpPr>
          <p:cNvPr id="12" name="Text 10"/>
          <p:cNvSpPr/>
          <p:nvPr/>
        </p:nvSpPr>
        <p:spPr>
          <a:xfrm>
            <a:off x="6583680" y="2788920"/>
            <a:ext cx="4297680" cy="1005840"/>
          </a:xfrm>
          <a:prstGeom prst="rect">
            <a:avLst/>
          </a:prstGeom>
          <a:noFill/>
          <a:ln/>
        </p:spPr>
        <p:txBody>
          <a:bodyPr wrap="square" rtlCol="0" anchor="ctr"/>
          <a:lstStyle/>
          <a:p>
            <a:pPr marL="0" indent="0">
              <a:lnSpc>
                <a:spcPts val="1800"/>
              </a:lnSpc>
              <a:buNone/>
            </a:pPr>
            <a:r>
              <a:rPr lang="en-US" sz="1350" i="1" dirty="0">
                <a:solidFill>
                  <a:srgbClr val="EAFBF8"/>
                </a:solidFill>
                <a:latin typeface="Cambria" pitchFamily="34" charset="0"/>
                <a:ea typeface="Cambria" pitchFamily="34" charset="-122"/>
                <a:cs typeface="Cambria" pitchFamily="34" charset="-120"/>
              </a:rPr>
              <a:t>The practice of gathering and analyzing customer data to turn it into actionable business insight.</a:t>
            </a:r>
            <a:endParaRPr lang="en-US" sz="1350" dirty="0"/>
          </a:p>
        </p:txBody>
      </p:sp>
      <p:sp>
        <p:nvSpPr>
          <p:cNvPr id="13" name="Text 11"/>
          <p:cNvSpPr/>
          <p:nvPr/>
        </p:nvSpPr>
        <p:spPr>
          <a:xfrm>
            <a:off x="6583680" y="3977640"/>
            <a:ext cx="4297680" cy="1783080"/>
          </a:xfrm>
          <a:prstGeom prst="rect">
            <a:avLst/>
          </a:prstGeom>
          <a:noFill/>
          <a:ln/>
        </p:spPr>
        <p:txBody>
          <a:bodyPr wrap="square" rtlCol="0" anchor="ctr"/>
          <a:lstStyle/>
          <a:p>
            <a:pPr marL="177800" indent="-177800">
              <a:lnSpc>
                <a:spcPts val="16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Combines behavioral, transactional and support data into one customer view</a:t>
            </a:r>
            <a:endParaRPr lang="en-US" sz="1250" dirty="0"/>
          </a:p>
          <a:p>
            <a:pPr marL="177800" indent="-177800">
              <a:lnSpc>
                <a:spcPts val="16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Segments customers by value, risk and engagement</a:t>
            </a:r>
            <a:endParaRPr lang="en-US" sz="1250" dirty="0"/>
          </a:p>
          <a:p>
            <a:pPr marL="177800" indent="-177800">
              <a:lnSpc>
                <a:spcPts val="1600"/>
              </a:lnSpc>
              <a:spcAft>
                <a:spcPts val="1200"/>
              </a:spcAft>
              <a:buSzPct val="100000"/>
              <a:buChar char="•"/>
            </a:pPr>
            <a:r>
              <a:rPr lang="en-US" sz="1250" dirty="0">
                <a:solidFill>
                  <a:srgbClr val="FFFFFF"/>
                </a:solidFill>
                <a:latin typeface="Calibri" pitchFamily="34" charset="0"/>
                <a:ea typeface="Calibri" pitchFamily="34" charset="-122"/>
                <a:cs typeface="Calibri" pitchFamily="34" charset="-120"/>
              </a:rPr>
              <a:t>Informs decisions on retention, pricing, and personalized outreach</a:t>
            </a:r>
            <a:endParaRPr lang="en-US" sz="1250" dirty="0"/>
          </a:p>
        </p:txBody>
      </p:sp>
      <p:sp>
        <p:nvSpPr>
          <p:cNvPr id="14" name="Text 12"/>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15" name="Text 13"/>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DATA FOUNDATION</a:t>
            </a:r>
            <a:endParaRPr lang="en-US" sz="1200" dirty="0"/>
          </a:p>
        </p:txBody>
      </p:sp>
      <p:sp>
        <p:nvSpPr>
          <p:cNvPr id="3" name="Text 1"/>
          <p:cNvSpPr/>
          <p:nvPr/>
        </p:nvSpPr>
        <p:spPr>
          <a:xfrm>
            <a:off x="548640" y="685800"/>
            <a:ext cx="10058400" cy="548640"/>
          </a:xfrm>
          <a:prstGeom prst="rect">
            <a:avLst/>
          </a:prstGeom>
          <a:noFill/>
          <a:ln/>
        </p:spPr>
        <p:txBody>
          <a:bodyPr wrap="square" rtlCol="0" anchor="ctr"/>
          <a:lstStyle/>
          <a:p>
            <a:pPr marL="0" indent="0">
              <a:buNone/>
            </a:pPr>
            <a:r>
              <a:rPr lang="en-US" sz="3000" b="1" dirty="0">
                <a:solidFill>
                  <a:srgbClr val="16282A"/>
                </a:solidFill>
                <a:latin typeface="Cambria" pitchFamily="34" charset="0"/>
                <a:ea typeface="Cambria" pitchFamily="34" charset="-122"/>
                <a:cs typeface="Cambria" pitchFamily="34" charset="-120"/>
              </a:rPr>
              <a:t>Database Tables</a:t>
            </a:r>
            <a:endParaRPr lang="en-US" sz="3000" dirty="0"/>
          </a:p>
        </p:txBody>
      </p:sp>
      <p:sp>
        <p:nvSpPr>
          <p:cNvPr id="4" name="Text 2"/>
          <p:cNvSpPr/>
          <p:nvPr/>
        </p:nvSpPr>
        <p:spPr>
          <a:xfrm>
            <a:off x="548640" y="1207008"/>
            <a:ext cx="10972800" cy="365760"/>
          </a:xfrm>
          <a:prstGeom prst="rect">
            <a:avLst/>
          </a:prstGeom>
          <a:noFill/>
          <a:ln/>
        </p:spPr>
        <p:txBody>
          <a:bodyPr wrap="square" rtlCol="0" anchor="ctr"/>
          <a:lstStyle/>
          <a:p>
            <a:pPr marL="0" indent="0">
              <a:buNone/>
            </a:pPr>
            <a:r>
              <a:rPr lang="en-US" sz="1250" dirty="0">
                <a:solidFill>
                  <a:srgbClr val="5C7275"/>
                </a:solidFill>
                <a:latin typeface="Calibri" pitchFamily="34" charset="0"/>
                <a:ea typeface="Calibri" pitchFamily="34" charset="-122"/>
                <a:cs typeface="Calibri" pitchFamily="34" charset="-120"/>
              </a:rPr>
              <a:t>Three source tables from customer_churn.db were merged into one 21-row, 21-column analytical dataset (joined on customerid).</a:t>
            </a:r>
            <a:endParaRPr lang="en-US" sz="1250" dirty="0"/>
          </a:p>
        </p:txBody>
      </p:sp>
      <p:sp>
        <p:nvSpPr>
          <p:cNvPr id="5" name="Shape 3"/>
          <p:cNvSpPr/>
          <p:nvPr/>
        </p:nvSpPr>
        <p:spPr>
          <a:xfrm>
            <a:off x="548640" y="1828800"/>
            <a:ext cx="3505200" cy="4251960"/>
          </a:xfrm>
          <a:prstGeom prst="roundRect">
            <a:avLst>
              <a:gd name="adj" fmla="val 1565"/>
            </a:avLst>
          </a:prstGeom>
          <a:solidFill>
            <a:srgbClr val="F4FAF9"/>
          </a:solidFill>
          <a:ln w="12700">
            <a:solidFill>
              <a:srgbClr val="DCE9E7"/>
            </a:solidFill>
            <a:prstDash val="solid"/>
          </a:ln>
        </p:spPr>
      </p:sp>
      <p:sp>
        <p:nvSpPr>
          <p:cNvPr id="6" name="Shape 4"/>
          <p:cNvSpPr/>
          <p:nvPr/>
        </p:nvSpPr>
        <p:spPr>
          <a:xfrm>
            <a:off x="548640" y="1828800"/>
            <a:ext cx="3505200" cy="566928"/>
          </a:xfrm>
          <a:prstGeom prst="rect">
            <a:avLst/>
          </a:prstGeom>
          <a:solidFill>
            <a:srgbClr val="028090"/>
          </a:solidFill>
          <a:ln/>
        </p:spPr>
      </p:sp>
      <p:sp>
        <p:nvSpPr>
          <p:cNvPr id="7" name="Text 5"/>
          <p:cNvSpPr/>
          <p:nvPr/>
        </p:nvSpPr>
        <p:spPr>
          <a:xfrm>
            <a:off x="777240" y="1828800"/>
            <a:ext cx="3048000" cy="566928"/>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db_customer</a:t>
            </a:r>
            <a:endParaRPr lang="en-US" sz="1500" dirty="0"/>
          </a:p>
        </p:txBody>
      </p:sp>
      <p:sp>
        <p:nvSpPr>
          <p:cNvPr id="8" name="Text 6"/>
          <p:cNvSpPr/>
          <p:nvPr/>
        </p:nvSpPr>
        <p:spPr>
          <a:xfrm>
            <a:off x="777240" y="2514600"/>
            <a:ext cx="3048000" cy="274320"/>
          </a:xfrm>
          <a:prstGeom prst="rect">
            <a:avLst/>
          </a:prstGeom>
          <a:noFill/>
          <a:ln/>
        </p:spPr>
        <p:txBody>
          <a:bodyPr wrap="square"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21 rows</a:t>
            </a:r>
            <a:endParaRPr lang="en-US" sz="1100" dirty="0"/>
          </a:p>
        </p:txBody>
      </p:sp>
      <p:sp>
        <p:nvSpPr>
          <p:cNvPr id="9" name="Text 7"/>
          <p:cNvSpPr/>
          <p:nvPr/>
        </p:nvSpPr>
        <p:spPr>
          <a:xfrm>
            <a:off x="777240" y="2880360"/>
            <a:ext cx="3048000" cy="2971800"/>
          </a:xfrm>
          <a:prstGeom prst="rect">
            <a:avLst/>
          </a:prstGeom>
          <a:noFill/>
          <a:ln/>
        </p:spPr>
        <p:txBody>
          <a:bodyPr wrap="square" rtlCol="0" anchor="ctr"/>
          <a:lstStyle/>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customerid</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name → customer_name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country</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state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gender</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dob</a:t>
            </a:r>
            <a:endParaRPr lang="en-US" sz="1050" dirty="0"/>
          </a:p>
        </p:txBody>
      </p:sp>
      <p:sp>
        <p:nvSpPr>
          <p:cNvPr id="10" name="Shape 8"/>
          <p:cNvSpPr/>
          <p:nvPr/>
        </p:nvSpPr>
        <p:spPr>
          <a:xfrm>
            <a:off x="4373880" y="1828800"/>
            <a:ext cx="3505200" cy="4251960"/>
          </a:xfrm>
          <a:prstGeom prst="roundRect">
            <a:avLst>
              <a:gd name="adj" fmla="val 1565"/>
            </a:avLst>
          </a:prstGeom>
          <a:solidFill>
            <a:srgbClr val="F4FAF9"/>
          </a:solidFill>
          <a:ln w="12700">
            <a:solidFill>
              <a:srgbClr val="DCE9E7"/>
            </a:solidFill>
            <a:prstDash val="solid"/>
          </a:ln>
        </p:spPr>
      </p:sp>
      <p:sp>
        <p:nvSpPr>
          <p:cNvPr id="11" name="Shape 9"/>
          <p:cNvSpPr/>
          <p:nvPr/>
        </p:nvSpPr>
        <p:spPr>
          <a:xfrm>
            <a:off x="4373880" y="1828800"/>
            <a:ext cx="3505200" cy="566928"/>
          </a:xfrm>
          <a:prstGeom prst="rect">
            <a:avLst/>
          </a:prstGeom>
          <a:solidFill>
            <a:srgbClr val="00A896"/>
          </a:solidFill>
          <a:ln/>
        </p:spPr>
      </p:sp>
      <p:sp>
        <p:nvSpPr>
          <p:cNvPr id="12" name="Text 10"/>
          <p:cNvSpPr/>
          <p:nvPr/>
        </p:nvSpPr>
        <p:spPr>
          <a:xfrm>
            <a:off x="4602480" y="1828800"/>
            <a:ext cx="3048000" cy="566928"/>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db_subscription</a:t>
            </a:r>
            <a:endParaRPr lang="en-US" sz="1500" dirty="0"/>
          </a:p>
        </p:txBody>
      </p:sp>
      <p:sp>
        <p:nvSpPr>
          <p:cNvPr id="13" name="Text 11"/>
          <p:cNvSpPr/>
          <p:nvPr/>
        </p:nvSpPr>
        <p:spPr>
          <a:xfrm>
            <a:off x="4602480" y="2514600"/>
            <a:ext cx="3048000" cy="274320"/>
          </a:xfrm>
          <a:prstGeom prst="rect">
            <a:avLst/>
          </a:prstGeom>
          <a:noFill/>
          <a:ln/>
        </p:spPr>
        <p:txBody>
          <a:bodyPr wrap="square"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21 rows</a:t>
            </a:r>
            <a:endParaRPr lang="en-US" sz="1100" dirty="0"/>
          </a:p>
        </p:txBody>
      </p:sp>
      <p:sp>
        <p:nvSpPr>
          <p:cNvPr id="14" name="Text 12"/>
          <p:cNvSpPr/>
          <p:nvPr/>
        </p:nvSpPr>
        <p:spPr>
          <a:xfrm>
            <a:off x="4602480" y="2880360"/>
            <a:ext cx="3048000" cy="2971800"/>
          </a:xfrm>
          <a:prstGeom prst="rect">
            <a:avLst/>
          </a:prstGeom>
          <a:noFill/>
          <a:ln/>
        </p:spPr>
        <p:txBody>
          <a:bodyPr wrap="square" rtlCol="0" anchor="ctr"/>
          <a:lstStyle/>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customerid</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subscription_start_date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subscription_type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plan_type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contract_type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cancellation_date / reason</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monthly_charges, cltv, churn_score</a:t>
            </a:r>
            <a:endParaRPr lang="en-US" sz="1050" dirty="0"/>
          </a:p>
        </p:txBody>
      </p:sp>
      <p:sp>
        <p:nvSpPr>
          <p:cNvPr id="15" name="Shape 13"/>
          <p:cNvSpPr/>
          <p:nvPr/>
        </p:nvSpPr>
        <p:spPr>
          <a:xfrm>
            <a:off x="8199120" y="1828800"/>
            <a:ext cx="3505200" cy="4251960"/>
          </a:xfrm>
          <a:prstGeom prst="roundRect">
            <a:avLst>
              <a:gd name="adj" fmla="val 1565"/>
            </a:avLst>
          </a:prstGeom>
          <a:solidFill>
            <a:srgbClr val="F4FAF9"/>
          </a:solidFill>
          <a:ln w="12700">
            <a:solidFill>
              <a:srgbClr val="DCE9E7"/>
            </a:solidFill>
            <a:prstDash val="solid"/>
          </a:ln>
        </p:spPr>
      </p:sp>
      <p:sp>
        <p:nvSpPr>
          <p:cNvPr id="16" name="Shape 14"/>
          <p:cNvSpPr/>
          <p:nvPr/>
        </p:nvSpPr>
        <p:spPr>
          <a:xfrm>
            <a:off x="8199120" y="1828800"/>
            <a:ext cx="3505200" cy="566928"/>
          </a:xfrm>
          <a:prstGeom prst="rect">
            <a:avLst/>
          </a:prstGeom>
          <a:solidFill>
            <a:srgbClr val="02C39A"/>
          </a:solidFill>
          <a:ln/>
        </p:spPr>
      </p:sp>
      <p:sp>
        <p:nvSpPr>
          <p:cNvPr id="17" name="Text 15"/>
          <p:cNvSpPr/>
          <p:nvPr/>
        </p:nvSpPr>
        <p:spPr>
          <a:xfrm>
            <a:off x="8427720" y="1828800"/>
            <a:ext cx="3048000" cy="566928"/>
          </a:xfrm>
          <a:prstGeom prst="rect">
            <a:avLst/>
          </a:prstGeom>
          <a:noFill/>
          <a:ln/>
        </p:spPr>
        <p:txBody>
          <a:bodyPr wrap="square" rtlCol="0" anchor="ctr"/>
          <a:lstStyle/>
          <a:p>
            <a:pPr marL="0" indent="0">
              <a:buNone/>
            </a:pPr>
            <a:r>
              <a:rPr lang="en-US" sz="1500" b="1" dirty="0">
                <a:solidFill>
                  <a:srgbClr val="FFFFFF"/>
                </a:solidFill>
                <a:latin typeface="Courier New" pitchFamily="34" charset="0"/>
                <a:ea typeface="Courier New" pitchFamily="34" charset="-122"/>
                <a:cs typeface="Courier New" pitchFamily="34" charset="-120"/>
              </a:rPr>
              <a:t>db_support</a:t>
            </a:r>
            <a:endParaRPr lang="en-US" sz="1500" dirty="0"/>
          </a:p>
        </p:txBody>
      </p:sp>
      <p:sp>
        <p:nvSpPr>
          <p:cNvPr id="18" name="Text 16"/>
          <p:cNvSpPr/>
          <p:nvPr/>
        </p:nvSpPr>
        <p:spPr>
          <a:xfrm>
            <a:off x="8427720" y="2514600"/>
            <a:ext cx="3048000" cy="274320"/>
          </a:xfrm>
          <a:prstGeom prst="rect">
            <a:avLst/>
          </a:prstGeom>
          <a:noFill/>
          <a:ln/>
        </p:spPr>
        <p:txBody>
          <a:bodyPr wrap="square"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9 rows (deduped)</a:t>
            </a:r>
            <a:endParaRPr lang="en-US" sz="1100" dirty="0"/>
          </a:p>
        </p:txBody>
      </p:sp>
      <p:sp>
        <p:nvSpPr>
          <p:cNvPr id="19" name="Text 17"/>
          <p:cNvSpPr/>
          <p:nvPr/>
        </p:nvSpPr>
        <p:spPr>
          <a:xfrm>
            <a:off x="8427720" y="2880360"/>
            <a:ext cx="3048000" cy="2971800"/>
          </a:xfrm>
          <a:prstGeom prst="rect">
            <a:avLst/>
          </a:prstGeom>
          <a:noFill/>
          <a:ln/>
        </p:spPr>
        <p:txBody>
          <a:bodyPr wrap="square" rtlCol="0" anchor="ctr"/>
          <a:lstStyle/>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customerid</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complaint_date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escalations (Y/N)</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csat_score</a:t>
            </a:r>
            <a:endParaRPr lang="en-US" sz="1050" dirty="0"/>
          </a:p>
          <a:p>
            <a:pPr marL="152400" indent="-152400">
              <a:lnSpc>
                <a:spcPts val="1300"/>
              </a:lnSpc>
              <a:spcAft>
                <a:spcPts val="900"/>
              </a:spcAft>
              <a:buSzPct val="100000"/>
              <a:buChar char="▪"/>
            </a:pPr>
            <a:r>
              <a:rPr lang="en-US" sz="1050" dirty="0">
                <a:solidFill>
                  <a:srgbClr val="16282A"/>
                </a:solidFill>
                <a:latin typeface="Courier New" pitchFamily="34" charset="0"/>
                <a:ea typeface="Courier New" pitchFamily="34" charset="-122"/>
                <a:cs typeface="Courier New" pitchFamily="34" charset="-120"/>
              </a:rPr>
              <a:t>complaint_count (derived)</a:t>
            </a:r>
            <a:endParaRPr lang="en-US" sz="1050" dirty="0"/>
          </a:p>
        </p:txBody>
      </p:sp>
      <p:sp>
        <p:nvSpPr>
          <p:cNvPr id="20" name="Text 18"/>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21" name="Text 19"/>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KPI DASHBOARD</a:t>
            </a:r>
            <a:endParaRPr lang="en-US" sz="1200" dirty="0"/>
          </a:p>
        </p:txBody>
      </p:sp>
      <p:sp>
        <p:nvSpPr>
          <p:cNvPr id="3" name="Text 1"/>
          <p:cNvSpPr/>
          <p:nvPr/>
        </p:nvSpPr>
        <p:spPr>
          <a:xfrm>
            <a:off x="548640" y="685800"/>
            <a:ext cx="10058400" cy="548640"/>
          </a:xfrm>
          <a:prstGeom prst="rect">
            <a:avLst/>
          </a:prstGeom>
          <a:noFill/>
          <a:ln/>
        </p:spPr>
        <p:txBody>
          <a:bodyPr wrap="square" rtlCol="0" anchor="ctr"/>
          <a:lstStyle/>
          <a:p>
            <a:pPr marL="0" indent="0">
              <a:buNone/>
            </a:pPr>
            <a:r>
              <a:rPr lang="en-US" sz="3000" b="1" dirty="0">
                <a:solidFill>
                  <a:srgbClr val="16282A"/>
                </a:solidFill>
                <a:latin typeface="Cambria" pitchFamily="34" charset="0"/>
                <a:ea typeface="Cambria" pitchFamily="34" charset="-122"/>
                <a:cs typeface="Cambria" pitchFamily="34" charset="-120"/>
              </a:rPr>
              <a:t>Calculated Metrics</a:t>
            </a:r>
            <a:endParaRPr lang="en-US" sz="3000" dirty="0"/>
          </a:p>
        </p:txBody>
      </p:sp>
      <p:sp>
        <p:nvSpPr>
          <p:cNvPr id="4" name="Shape 2"/>
          <p:cNvSpPr/>
          <p:nvPr/>
        </p:nvSpPr>
        <p:spPr>
          <a:xfrm>
            <a:off x="548640" y="173736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5" name="Shape 3"/>
          <p:cNvSpPr/>
          <p:nvPr/>
        </p:nvSpPr>
        <p:spPr>
          <a:xfrm>
            <a:off x="548640" y="1737360"/>
            <a:ext cx="82296" cy="2034540"/>
          </a:xfrm>
          <a:prstGeom prst="rect">
            <a:avLst/>
          </a:prstGeom>
          <a:solidFill>
            <a:srgbClr val="D6673C"/>
          </a:solidFill>
          <a:ln/>
        </p:spPr>
      </p:sp>
      <p:sp>
        <p:nvSpPr>
          <p:cNvPr id="6" name="Text 4"/>
          <p:cNvSpPr/>
          <p:nvPr/>
        </p:nvSpPr>
        <p:spPr>
          <a:xfrm>
            <a:off x="777240" y="1993392"/>
            <a:ext cx="2171700" cy="594360"/>
          </a:xfrm>
          <a:prstGeom prst="rect">
            <a:avLst/>
          </a:prstGeom>
          <a:noFill/>
          <a:ln/>
        </p:spPr>
        <p:txBody>
          <a:bodyPr wrap="square" rtlCol="0" anchor="ctr"/>
          <a:lstStyle/>
          <a:p>
            <a:pPr marL="0" indent="0">
              <a:buNone/>
            </a:pPr>
            <a:r>
              <a:rPr lang="en-US" sz="2400" b="1" dirty="0">
                <a:solidFill>
                  <a:srgbClr val="D6673C"/>
                </a:solidFill>
                <a:latin typeface="Cambria" pitchFamily="34" charset="0"/>
                <a:ea typeface="Cambria" pitchFamily="34" charset="-122"/>
                <a:cs typeface="Cambria" pitchFamily="34" charset="-120"/>
              </a:rPr>
              <a:t>28.57%</a:t>
            </a:r>
            <a:endParaRPr lang="en-US" sz="2400" dirty="0"/>
          </a:p>
        </p:txBody>
      </p:sp>
      <p:sp>
        <p:nvSpPr>
          <p:cNvPr id="7" name="Text 5"/>
          <p:cNvSpPr/>
          <p:nvPr/>
        </p:nvSpPr>
        <p:spPr>
          <a:xfrm>
            <a:off x="777240" y="260604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Overall Churn Rate</a:t>
            </a:r>
            <a:endParaRPr lang="en-US" sz="1100" dirty="0"/>
          </a:p>
        </p:txBody>
      </p:sp>
      <p:sp>
        <p:nvSpPr>
          <p:cNvPr id="8" name="Shape 6"/>
          <p:cNvSpPr/>
          <p:nvPr/>
        </p:nvSpPr>
        <p:spPr>
          <a:xfrm>
            <a:off x="3406140" y="173736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9" name="Shape 7"/>
          <p:cNvSpPr/>
          <p:nvPr/>
        </p:nvSpPr>
        <p:spPr>
          <a:xfrm>
            <a:off x="3406140" y="1737360"/>
            <a:ext cx="82296" cy="2034540"/>
          </a:xfrm>
          <a:prstGeom prst="rect">
            <a:avLst/>
          </a:prstGeom>
          <a:solidFill>
            <a:srgbClr val="00A896"/>
          </a:solidFill>
          <a:ln/>
        </p:spPr>
      </p:sp>
      <p:sp>
        <p:nvSpPr>
          <p:cNvPr id="10" name="Text 8"/>
          <p:cNvSpPr/>
          <p:nvPr/>
        </p:nvSpPr>
        <p:spPr>
          <a:xfrm>
            <a:off x="3634740" y="1993392"/>
            <a:ext cx="2171700" cy="594360"/>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71.43%</a:t>
            </a:r>
            <a:endParaRPr lang="en-US" sz="2400" dirty="0"/>
          </a:p>
        </p:txBody>
      </p:sp>
      <p:sp>
        <p:nvSpPr>
          <p:cNvPr id="11" name="Text 9"/>
          <p:cNvSpPr/>
          <p:nvPr/>
        </p:nvSpPr>
        <p:spPr>
          <a:xfrm>
            <a:off x="3634740" y="260604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Retention Rate</a:t>
            </a:r>
            <a:endParaRPr lang="en-US" sz="1100" dirty="0"/>
          </a:p>
        </p:txBody>
      </p:sp>
      <p:sp>
        <p:nvSpPr>
          <p:cNvPr id="12" name="Shape 10"/>
          <p:cNvSpPr/>
          <p:nvPr/>
        </p:nvSpPr>
        <p:spPr>
          <a:xfrm>
            <a:off x="6263640" y="173736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13" name="Shape 11"/>
          <p:cNvSpPr/>
          <p:nvPr/>
        </p:nvSpPr>
        <p:spPr>
          <a:xfrm>
            <a:off x="6263640" y="1737360"/>
            <a:ext cx="82296" cy="2034540"/>
          </a:xfrm>
          <a:prstGeom prst="rect">
            <a:avLst/>
          </a:prstGeom>
          <a:solidFill>
            <a:srgbClr val="00A896"/>
          </a:solidFill>
          <a:ln/>
        </p:spPr>
      </p:sp>
      <p:sp>
        <p:nvSpPr>
          <p:cNvPr id="14" name="Text 12"/>
          <p:cNvSpPr/>
          <p:nvPr/>
        </p:nvSpPr>
        <p:spPr>
          <a:xfrm>
            <a:off x="6492240" y="1993392"/>
            <a:ext cx="2171700" cy="594360"/>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$18.85</a:t>
            </a:r>
            <a:endParaRPr lang="en-US" sz="2400" dirty="0"/>
          </a:p>
        </p:txBody>
      </p:sp>
      <p:sp>
        <p:nvSpPr>
          <p:cNvPr id="15" name="Text 13"/>
          <p:cNvSpPr/>
          <p:nvPr/>
        </p:nvSpPr>
        <p:spPr>
          <a:xfrm>
            <a:off x="6492240" y="260604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ARPU (Avg. Revenue / User)</a:t>
            </a:r>
            <a:endParaRPr lang="en-US" sz="1100" dirty="0"/>
          </a:p>
        </p:txBody>
      </p:sp>
      <p:sp>
        <p:nvSpPr>
          <p:cNvPr id="16" name="Shape 14"/>
          <p:cNvSpPr/>
          <p:nvPr/>
        </p:nvSpPr>
        <p:spPr>
          <a:xfrm>
            <a:off x="9121140" y="173736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17" name="Shape 15"/>
          <p:cNvSpPr/>
          <p:nvPr/>
        </p:nvSpPr>
        <p:spPr>
          <a:xfrm>
            <a:off x="9121140" y="1737360"/>
            <a:ext cx="82296" cy="2034540"/>
          </a:xfrm>
          <a:prstGeom prst="rect">
            <a:avLst/>
          </a:prstGeom>
          <a:solidFill>
            <a:srgbClr val="00A896"/>
          </a:solidFill>
          <a:ln/>
        </p:spPr>
      </p:sp>
      <p:sp>
        <p:nvSpPr>
          <p:cNvPr id="18" name="Text 16"/>
          <p:cNvSpPr/>
          <p:nvPr/>
        </p:nvSpPr>
        <p:spPr>
          <a:xfrm>
            <a:off x="9349740" y="1993392"/>
            <a:ext cx="2171700" cy="594360"/>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1,499 days</a:t>
            </a:r>
            <a:endParaRPr lang="en-US" sz="2400" dirty="0"/>
          </a:p>
        </p:txBody>
      </p:sp>
      <p:sp>
        <p:nvSpPr>
          <p:cNvPr id="19" name="Text 17"/>
          <p:cNvSpPr/>
          <p:nvPr/>
        </p:nvSpPr>
        <p:spPr>
          <a:xfrm>
            <a:off x="9349740" y="260604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Average Customer Tenure</a:t>
            </a:r>
            <a:endParaRPr lang="en-US" sz="1100" dirty="0"/>
          </a:p>
        </p:txBody>
      </p:sp>
      <p:sp>
        <p:nvSpPr>
          <p:cNvPr id="20" name="Shape 18"/>
          <p:cNvSpPr/>
          <p:nvPr/>
        </p:nvSpPr>
        <p:spPr>
          <a:xfrm>
            <a:off x="548640" y="404622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21" name="Shape 19"/>
          <p:cNvSpPr/>
          <p:nvPr/>
        </p:nvSpPr>
        <p:spPr>
          <a:xfrm>
            <a:off x="548640" y="4046220"/>
            <a:ext cx="82296" cy="2034540"/>
          </a:xfrm>
          <a:prstGeom prst="rect">
            <a:avLst/>
          </a:prstGeom>
          <a:solidFill>
            <a:srgbClr val="D6673C"/>
          </a:solidFill>
          <a:ln/>
        </p:spPr>
      </p:sp>
      <p:sp>
        <p:nvSpPr>
          <p:cNvPr id="22" name="Text 20"/>
          <p:cNvSpPr/>
          <p:nvPr/>
        </p:nvSpPr>
        <p:spPr>
          <a:xfrm>
            <a:off x="777240" y="4302252"/>
            <a:ext cx="2171700" cy="594360"/>
          </a:xfrm>
          <a:prstGeom prst="rect">
            <a:avLst/>
          </a:prstGeom>
          <a:noFill/>
          <a:ln/>
        </p:spPr>
        <p:txBody>
          <a:bodyPr wrap="square" rtlCol="0" anchor="ctr"/>
          <a:lstStyle/>
          <a:p>
            <a:pPr marL="0" indent="0">
              <a:buNone/>
            </a:pPr>
            <a:r>
              <a:rPr lang="en-US" sz="2400" b="1" dirty="0">
                <a:solidFill>
                  <a:srgbClr val="D6673C"/>
                </a:solidFill>
                <a:latin typeface="Cambria" pitchFamily="34" charset="0"/>
                <a:ea typeface="Cambria" pitchFamily="34" charset="-122"/>
                <a:cs typeface="Cambria" pitchFamily="34" charset="-120"/>
              </a:rPr>
              <a:t>$73.94k</a:t>
            </a:r>
            <a:endParaRPr lang="en-US" sz="2400" dirty="0"/>
          </a:p>
        </p:txBody>
      </p:sp>
      <p:sp>
        <p:nvSpPr>
          <p:cNvPr id="23" name="Text 21"/>
          <p:cNvSpPr/>
          <p:nvPr/>
        </p:nvSpPr>
        <p:spPr>
          <a:xfrm>
            <a:off x="777240" y="491490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Revenue at Risk (churned)</a:t>
            </a:r>
            <a:endParaRPr lang="en-US" sz="1100" dirty="0"/>
          </a:p>
        </p:txBody>
      </p:sp>
      <p:sp>
        <p:nvSpPr>
          <p:cNvPr id="24" name="Shape 22"/>
          <p:cNvSpPr/>
          <p:nvPr/>
        </p:nvSpPr>
        <p:spPr>
          <a:xfrm>
            <a:off x="3406140" y="404622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25" name="Shape 23"/>
          <p:cNvSpPr/>
          <p:nvPr/>
        </p:nvSpPr>
        <p:spPr>
          <a:xfrm>
            <a:off x="3406140" y="4046220"/>
            <a:ext cx="82296" cy="2034540"/>
          </a:xfrm>
          <a:prstGeom prst="rect">
            <a:avLst/>
          </a:prstGeom>
          <a:solidFill>
            <a:srgbClr val="D6673C"/>
          </a:solidFill>
          <a:ln/>
        </p:spPr>
      </p:sp>
      <p:sp>
        <p:nvSpPr>
          <p:cNvPr id="26" name="Text 24"/>
          <p:cNvSpPr/>
          <p:nvPr/>
        </p:nvSpPr>
        <p:spPr>
          <a:xfrm>
            <a:off x="3634740" y="4302252"/>
            <a:ext cx="2171700" cy="594360"/>
          </a:xfrm>
          <a:prstGeom prst="rect">
            <a:avLst/>
          </a:prstGeom>
          <a:noFill/>
          <a:ln/>
        </p:spPr>
        <p:txBody>
          <a:bodyPr wrap="square" rtlCol="0" anchor="ctr"/>
          <a:lstStyle/>
          <a:p>
            <a:pPr marL="0" indent="0">
              <a:buNone/>
            </a:pPr>
            <a:r>
              <a:rPr lang="en-US" sz="2400" b="1" dirty="0">
                <a:solidFill>
                  <a:srgbClr val="D6673C"/>
                </a:solidFill>
                <a:latin typeface="Cambria" pitchFamily="34" charset="0"/>
                <a:ea typeface="Cambria" pitchFamily="34" charset="-122"/>
                <a:cs typeface="Cambria" pitchFamily="34" charset="-120"/>
              </a:rPr>
              <a:t>19.05%</a:t>
            </a:r>
            <a:endParaRPr lang="en-US" sz="2400" dirty="0"/>
          </a:p>
        </p:txBody>
      </p:sp>
      <p:sp>
        <p:nvSpPr>
          <p:cNvPr id="27" name="Text 25"/>
          <p:cNvSpPr/>
          <p:nvPr/>
        </p:nvSpPr>
        <p:spPr>
          <a:xfrm>
            <a:off x="3634740" y="491490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Escalation Rate</a:t>
            </a:r>
            <a:endParaRPr lang="en-US" sz="1100" dirty="0"/>
          </a:p>
        </p:txBody>
      </p:sp>
      <p:sp>
        <p:nvSpPr>
          <p:cNvPr id="28" name="Shape 26"/>
          <p:cNvSpPr/>
          <p:nvPr/>
        </p:nvSpPr>
        <p:spPr>
          <a:xfrm>
            <a:off x="6263640" y="404622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29" name="Shape 27"/>
          <p:cNvSpPr/>
          <p:nvPr/>
        </p:nvSpPr>
        <p:spPr>
          <a:xfrm>
            <a:off x="6263640" y="4046220"/>
            <a:ext cx="82296" cy="2034540"/>
          </a:xfrm>
          <a:prstGeom prst="rect">
            <a:avLst/>
          </a:prstGeom>
          <a:solidFill>
            <a:srgbClr val="00A896"/>
          </a:solidFill>
          <a:ln/>
        </p:spPr>
      </p:sp>
      <p:sp>
        <p:nvSpPr>
          <p:cNvPr id="30" name="Text 28"/>
          <p:cNvSpPr/>
          <p:nvPr/>
        </p:nvSpPr>
        <p:spPr>
          <a:xfrm>
            <a:off x="6492240" y="4302252"/>
            <a:ext cx="2171700" cy="594360"/>
          </a:xfrm>
          <a:prstGeom prst="rect">
            <a:avLst/>
          </a:prstGeom>
          <a:noFill/>
          <a:ln/>
        </p:spPr>
        <p:txBody>
          <a:bodyPr wrap="square" rtlCol="0" anchor="ctr"/>
          <a:lstStyle/>
          <a:p>
            <a:pPr marL="0" indent="0">
              <a:buNone/>
            </a:pPr>
            <a:r>
              <a:rPr lang="en-US" sz="2400" b="1" dirty="0">
                <a:solidFill>
                  <a:srgbClr val="028090"/>
                </a:solidFill>
                <a:latin typeface="Cambria" pitchFamily="34" charset="0"/>
                <a:ea typeface="Cambria" pitchFamily="34" charset="-122"/>
                <a:cs typeface="Cambria" pitchFamily="34" charset="-120"/>
              </a:rPr>
              <a:t>0.43</a:t>
            </a:r>
            <a:endParaRPr lang="en-US" sz="2400" dirty="0"/>
          </a:p>
        </p:txBody>
      </p:sp>
      <p:sp>
        <p:nvSpPr>
          <p:cNvPr id="31" name="Text 29"/>
          <p:cNvSpPr/>
          <p:nvPr/>
        </p:nvSpPr>
        <p:spPr>
          <a:xfrm>
            <a:off x="6492240" y="491490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Avg. Complaints per User</a:t>
            </a:r>
            <a:endParaRPr lang="en-US" sz="1100" dirty="0"/>
          </a:p>
        </p:txBody>
      </p:sp>
      <p:sp>
        <p:nvSpPr>
          <p:cNvPr id="32" name="Shape 30"/>
          <p:cNvSpPr/>
          <p:nvPr/>
        </p:nvSpPr>
        <p:spPr>
          <a:xfrm>
            <a:off x="9121140" y="4046220"/>
            <a:ext cx="2583180" cy="2034540"/>
          </a:xfrm>
          <a:prstGeom prst="roundRect">
            <a:avLst>
              <a:gd name="adj" fmla="val 3146"/>
            </a:avLst>
          </a:prstGeom>
          <a:solidFill>
            <a:srgbClr val="F4FAF9"/>
          </a:solidFill>
          <a:ln w="12700">
            <a:solidFill>
              <a:srgbClr val="DCE9E7"/>
            </a:solidFill>
            <a:prstDash val="solid"/>
          </a:ln>
          <a:effectLst>
            <a:outerShdw blurRad="63500" dist="25400" dir="5400000" algn="bl" rotWithShape="0">
              <a:srgbClr val="1B3A3A">
                <a:alpha val="10000"/>
              </a:srgbClr>
            </a:outerShdw>
          </a:effectLst>
        </p:spPr>
      </p:sp>
      <p:sp>
        <p:nvSpPr>
          <p:cNvPr id="33" name="Shape 31"/>
          <p:cNvSpPr/>
          <p:nvPr/>
        </p:nvSpPr>
        <p:spPr>
          <a:xfrm>
            <a:off x="9121140" y="4046220"/>
            <a:ext cx="82296" cy="2034540"/>
          </a:xfrm>
          <a:prstGeom prst="rect">
            <a:avLst/>
          </a:prstGeom>
          <a:solidFill>
            <a:srgbClr val="D6673C"/>
          </a:solidFill>
          <a:ln/>
        </p:spPr>
      </p:sp>
      <p:sp>
        <p:nvSpPr>
          <p:cNvPr id="34" name="Text 32"/>
          <p:cNvSpPr/>
          <p:nvPr/>
        </p:nvSpPr>
        <p:spPr>
          <a:xfrm>
            <a:off x="9349740" y="4302252"/>
            <a:ext cx="2171700" cy="594360"/>
          </a:xfrm>
          <a:prstGeom prst="rect">
            <a:avLst/>
          </a:prstGeom>
          <a:noFill/>
          <a:ln/>
        </p:spPr>
        <p:txBody>
          <a:bodyPr wrap="square" rtlCol="0" anchor="ctr"/>
          <a:lstStyle/>
          <a:p>
            <a:pPr marL="0" indent="0">
              <a:buNone/>
            </a:pPr>
            <a:r>
              <a:rPr lang="en-US" sz="2400" b="1" dirty="0">
                <a:solidFill>
                  <a:srgbClr val="D6673C"/>
                </a:solidFill>
                <a:latin typeface="Cambria" pitchFamily="34" charset="0"/>
                <a:ea typeface="Cambria" pitchFamily="34" charset="-122"/>
                <a:cs typeface="Cambria" pitchFamily="34" charset="-120"/>
              </a:rPr>
              <a:t>0.77</a:t>
            </a:r>
            <a:endParaRPr lang="en-US" sz="2400" dirty="0"/>
          </a:p>
        </p:txBody>
      </p:sp>
      <p:sp>
        <p:nvSpPr>
          <p:cNvPr id="35" name="Text 33"/>
          <p:cNvSpPr/>
          <p:nvPr/>
        </p:nvSpPr>
        <p:spPr>
          <a:xfrm>
            <a:off x="9349740" y="4914900"/>
            <a:ext cx="2171700" cy="1028700"/>
          </a:xfrm>
          <a:prstGeom prst="rect">
            <a:avLst/>
          </a:prstGeom>
          <a:noFill/>
          <a:ln/>
        </p:spPr>
        <p:txBody>
          <a:bodyPr wrap="square" rtlCol="0" anchor="ctr"/>
          <a:lstStyle/>
          <a:p>
            <a:pPr marL="0" indent="0">
              <a:lnSpc>
                <a:spcPts val="1300"/>
              </a:lnSpc>
              <a:buNone/>
            </a:pPr>
            <a:r>
              <a:rPr lang="en-US" sz="1100" dirty="0">
                <a:solidFill>
                  <a:srgbClr val="5C7275"/>
                </a:solidFill>
                <a:latin typeface="Calibri" pitchFamily="34" charset="0"/>
                <a:ea typeface="Calibri" pitchFamily="34" charset="-122"/>
                <a:cs typeface="Calibri" pitchFamily="34" charset="-120"/>
              </a:rPr>
              <a:t>Correlation: Escalation ↔ Churn</a:t>
            </a:r>
            <a:endParaRPr lang="en-US" sz="1100" dirty="0"/>
          </a:p>
        </p:txBody>
      </p:sp>
      <p:sp>
        <p:nvSpPr>
          <p:cNvPr id="36" name="Text 34"/>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37" name="Text 35"/>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SUMMARY</a:t>
            </a:r>
            <a:endParaRPr lang="en-US" sz="1200" dirty="0"/>
          </a:p>
        </p:txBody>
      </p:sp>
      <p:sp>
        <p:nvSpPr>
          <p:cNvPr id="3" name="Text 1"/>
          <p:cNvSpPr/>
          <p:nvPr/>
        </p:nvSpPr>
        <p:spPr>
          <a:xfrm>
            <a:off x="548640" y="685800"/>
            <a:ext cx="10058400" cy="548640"/>
          </a:xfrm>
          <a:prstGeom prst="rect">
            <a:avLst/>
          </a:prstGeom>
          <a:noFill/>
          <a:ln/>
        </p:spPr>
        <p:txBody>
          <a:bodyPr wrap="square" rtlCol="0" anchor="ctr"/>
          <a:lstStyle/>
          <a:p>
            <a:r>
              <a:rPr lang="en-US" sz="3000" b="1" dirty="0">
                <a:solidFill>
                  <a:srgbClr val="16282A"/>
                </a:solidFill>
                <a:latin typeface="Cambria" pitchFamily="34" charset="0"/>
                <a:ea typeface="Cambria" pitchFamily="34" charset="-122"/>
                <a:cs typeface="Cambria" pitchFamily="34" charset="-120"/>
              </a:rPr>
              <a:t>Portfolio Project - Summary</a:t>
            </a:r>
            <a:endParaRPr lang="en-US" sz="3000" dirty="0"/>
          </a:p>
        </p:txBody>
      </p:sp>
      <p:sp>
        <p:nvSpPr>
          <p:cNvPr id="4" name="Shape 2"/>
          <p:cNvSpPr/>
          <p:nvPr/>
        </p:nvSpPr>
        <p:spPr>
          <a:xfrm>
            <a:off x="548639" y="1600200"/>
            <a:ext cx="11148779" cy="2057400"/>
          </a:xfrm>
          <a:prstGeom prst="roundRect">
            <a:avLst>
              <a:gd name="adj" fmla="val 1429"/>
            </a:avLst>
          </a:prstGeom>
          <a:solidFill>
            <a:srgbClr val="F4FAF9"/>
          </a:solidFill>
          <a:ln w="12700">
            <a:solidFill>
              <a:srgbClr val="DCE9E7"/>
            </a:solidFill>
            <a:prstDash val="solid"/>
          </a:ln>
        </p:spPr>
      </p:sp>
      <p:sp>
        <p:nvSpPr>
          <p:cNvPr id="6" name="Text 4"/>
          <p:cNvSpPr/>
          <p:nvPr/>
        </p:nvSpPr>
        <p:spPr>
          <a:xfrm>
            <a:off x="1069674" y="526212"/>
            <a:ext cx="9857405" cy="3985404"/>
          </a:xfrm>
          <a:prstGeom prst="rect">
            <a:avLst/>
          </a:prstGeom>
          <a:noFill/>
          <a:ln/>
        </p:spPr>
        <p:txBody>
          <a:bodyPr wrap="square" rtlCol="0" anchor="ctr"/>
          <a:lstStyle/>
          <a:p>
            <a:pPr algn="just">
              <a:lnSpc>
                <a:spcPts val="1700"/>
              </a:lnSpc>
              <a:spcAft>
                <a:spcPts val="1400"/>
              </a:spcAft>
              <a:buSzPct val="100000"/>
            </a:pPr>
            <a:r>
              <a:rPr lang="en-US" sz="1300" dirty="0">
                <a:solidFill>
                  <a:schemeClr val="tx1">
                    <a:lumMod val="65000"/>
                    <a:lumOff val="35000"/>
                  </a:schemeClr>
                </a:solidFill>
              </a:rPr>
              <a:t>Built an end-to-end churn analytics pipeline by combining customer, subscription, and support data. Cleaned and transformed the data, created 20+ KPIs, and analyzed churn based on contract type and plan type. Identified that monthly contract customers had higher churn than annual contract customers, analyzed MRR (Monthly Recurring Revenue) loss and CLTV (Customer Lifetime Value), and suggested moving customers from monthly to annual plans to improve customer retention.</a:t>
            </a:r>
          </a:p>
        </p:txBody>
      </p:sp>
      <p:sp>
        <p:nvSpPr>
          <p:cNvPr id="8" name="Text 6"/>
          <p:cNvSpPr/>
          <p:nvPr/>
        </p:nvSpPr>
        <p:spPr>
          <a:xfrm>
            <a:off x="6629400" y="1874520"/>
            <a:ext cx="4754880" cy="411480"/>
          </a:xfrm>
          <a:prstGeom prst="rect">
            <a:avLst/>
          </a:prstGeom>
          <a:noFill/>
          <a:ln/>
        </p:spPr>
        <p:txBody>
          <a:bodyPr wrap="square" rtlCol="0" anchor="ctr"/>
          <a:lstStyle/>
          <a:p>
            <a:pPr marL="0" indent="0">
              <a:buNone/>
            </a:pPr>
            <a:endParaRPr lang="en-US" sz="1700" dirty="0"/>
          </a:p>
        </p:txBody>
      </p:sp>
      <p:sp>
        <p:nvSpPr>
          <p:cNvPr id="9" name="Text 7"/>
          <p:cNvSpPr/>
          <p:nvPr/>
        </p:nvSpPr>
        <p:spPr>
          <a:xfrm>
            <a:off x="6629400" y="2061712"/>
            <a:ext cx="4754880" cy="3459193"/>
          </a:xfrm>
          <a:prstGeom prst="rect">
            <a:avLst/>
          </a:prstGeom>
          <a:noFill/>
          <a:ln/>
        </p:spPr>
        <p:txBody>
          <a:bodyPr wrap="square" rtlCol="0" anchor="ctr"/>
          <a:lstStyle/>
          <a:p>
            <a:pPr>
              <a:lnSpc>
                <a:spcPts val="1700"/>
              </a:lnSpc>
              <a:spcAft>
                <a:spcPts val="1400"/>
              </a:spcAft>
              <a:buSzPct val="100000"/>
            </a:pPr>
            <a:endParaRPr lang="en-US" sz="1250" dirty="0"/>
          </a:p>
        </p:txBody>
      </p:sp>
      <p:sp>
        <p:nvSpPr>
          <p:cNvPr id="10" name="Text 8"/>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11" name="Text 9"/>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2F66567-A122-A78C-15DF-8AF9EF319F2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BA3741D-1840-A401-945A-5569255A0A85}"/>
              </a:ext>
            </a:extLst>
          </p:cNvPr>
          <p:cNvSpPr/>
          <p:nvPr/>
        </p:nvSpPr>
        <p:spPr>
          <a:xfrm>
            <a:off x="548640" y="411480"/>
            <a:ext cx="3657600" cy="320040"/>
          </a:xfrm>
          <a:prstGeom prst="rect">
            <a:avLst/>
          </a:prstGeom>
          <a:noFill/>
          <a:ln/>
        </p:spPr>
        <p:txBody>
          <a:bodyPr wrap="square" rtlCol="0" anchor="ctr"/>
          <a:lstStyle/>
          <a:p>
            <a:pPr marL="0" indent="0">
              <a:buNone/>
            </a:pPr>
            <a:r>
              <a:rPr lang="en-US" sz="1200" b="1" kern="0" spc="200" dirty="0">
                <a:solidFill>
                  <a:srgbClr val="028090"/>
                </a:solidFill>
                <a:latin typeface="Calibri" pitchFamily="34" charset="0"/>
                <a:ea typeface="Calibri" pitchFamily="34" charset="-122"/>
                <a:cs typeface="Calibri" pitchFamily="34" charset="-120"/>
              </a:rPr>
              <a:t>PROJECT FOUNDATION</a:t>
            </a:r>
            <a:endParaRPr lang="en-US" sz="1200" dirty="0"/>
          </a:p>
        </p:txBody>
      </p:sp>
      <p:sp>
        <p:nvSpPr>
          <p:cNvPr id="3" name="Text 1">
            <a:extLst>
              <a:ext uri="{FF2B5EF4-FFF2-40B4-BE49-F238E27FC236}">
                <a16:creationId xmlns:a16="http://schemas.microsoft.com/office/drawing/2014/main" id="{B95767B7-A25B-6D62-C719-2143B0AFBF81}"/>
              </a:ext>
            </a:extLst>
          </p:cNvPr>
          <p:cNvSpPr/>
          <p:nvPr/>
        </p:nvSpPr>
        <p:spPr>
          <a:xfrm>
            <a:off x="548640" y="685800"/>
            <a:ext cx="10058400" cy="548640"/>
          </a:xfrm>
          <a:prstGeom prst="rect">
            <a:avLst/>
          </a:prstGeom>
          <a:noFill/>
          <a:ln/>
        </p:spPr>
        <p:txBody>
          <a:bodyPr wrap="square" rtlCol="0" anchor="ctr"/>
          <a:lstStyle/>
          <a:p>
            <a:pPr marL="0" indent="0">
              <a:buNone/>
            </a:pPr>
            <a:r>
              <a:rPr lang="en-US" sz="3000" b="1" dirty="0">
                <a:solidFill>
                  <a:srgbClr val="16282A"/>
                </a:solidFill>
                <a:latin typeface="Cambria" pitchFamily="34" charset="0"/>
                <a:ea typeface="Cambria" pitchFamily="34" charset="-122"/>
                <a:cs typeface="Cambria" pitchFamily="34" charset="-120"/>
              </a:rPr>
              <a:t>The Business Challenge</a:t>
            </a:r>
            <a:endParaRPr lang="en-US" sz="3000" dirty="0"/>
          </a:p>
        </p:txBody>
      </p:sp>
      <p:sp>
        <p:nvSpPr>
          <p:cNvPr id="4" name="Shape 2">
            <a:extLst>
              <a:ext uri="{FF2B5EF4-FFF2-40B4-BE49-F238E27FC236}">
                <a16:creationId xmlns:a16="http://schemas.microsoft.com/office/drawing/2014/main" id="{5D8732A3-CA19-B277-612F-C4C3ADB5B4AF}"/>
              </a:ext>
            </a:extLst>
          </p:cNvPr>
          <p:cNvSpPr/>
          <p:nvPr/>
        </p:nvSpPr>
        <p:spPr>
          <a:xfrm>
            <a:off x="548640" y="1600200"/>
            <a:ext cx="3505200" cy="4480560"/>
          </a:xfrm>
          <a:prstGeom prst="roundRect">
            <a:avLst>
              <a:gd name="adj" fmla="val 2087"/>
            </a:avLst>
          </a:prstGeom>
          <a:solidFill>
            <a:srgbClr val="F4FAF9"/>
          </a:solidFill>
          <a:ln w="12700">
            <a:solidFill>
              <a:srgbClr val="DCE9E7"/>
            </a:solidFill>
            <a:prstDash val="solid"/>
          </a:ln>
          <a:effectLst>
            <a:outerShdw blurRad="76200" dist="25400" dir="5400000" algn="bl" rotWithShape="0">
              <a:srgbClr val="1B3A3A">
                <a:alpha val="12000"/>
              </a:srgbClr>
            </a:outerShdw>
          </a:effectLst>
        </p:spPr>
      </p:sp>
      <p:sp>
        <p:nvSpPr>
          <p:cNvPr id="5" name="Shape 3">
            <a:extLst>
              <a:ext uri="{FF2B5EF4-FFF2-40B4-BE49-F238E27FC236}">
                <a16:creationId xmlns:a16="http://schemas.microsoft.com/office/drawing/2014/main" id="{AF2112D8-C5F8-FF0B-45A1-8A3EAB97CB4C}"/>
              </a:ext>
            </a:extLst>
          </p:cNvPr>
          <p:cNvSpPr/>
          <p:nvPr/>
        </p:nvSpPr>
        <p:spPr>
          <a:xfrm>
            <a:off x="822960" y="1874520"/>
            <a:ext cx="502920" cy="502920"/>
          </a:xfrm>
          <a:prstGeom prst="ellipse">
            <a:avLst/>
          </a:prstGeom>
          <a:solidFill>
            <a:srgbClr val="028090"/>
          </a:solidFill>
          <a:ln/>
        </p:spPr>
      </p:sp>
      <p:sp>
        <p:nvSpPr>
          <p:cNvPr id="6" name="Text 4">
            <a:extLst>
              <a:ext uri="{FF2B5EF4-FFF2-40B4-BE49-F238E27FC236}">
                <a16:creationId xmlns:a16="http://schemas.microsoft.com/office/drawing/2014/main" id="{958192FC-6E36-A4E7-02A4-4A60A88996A1}"/>
              </a:ext>
            </a:extLst>
          </p:cNvPr>
          <p:cNvSpPr/>
          <p:nvPr/>
        </p:nvSpPr>
        <p:spPr>
          <a:xfrm>
            <a:off x="822960" y="1874520"/>
            <a:ext cx="502920" cy="50292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a:extLst>
              <a:ext uri="{FF2B5EF4-FFF2-40B4-BE49-F238E27FC236}">
                <a16:creationId xmlns:a16="http://schemas.microsoft.com/office/drawing/2014/main" id="{6C068199-2FD1-0A98-82F7-A4589729D19D}"/>
              </a:ext>
            </a:extLst>
          </p:cNvPr>
          <p:cNvSpPr/>
          <p:nvPr/>
        </p:nvSpPr>
        <p:spPr>
          <a:xfrm>
            <a:off x="822960" y="2514600"/>
            <a:ext cx="2956560" cy="411480"/>
          </a:xfrm>
          <a:prstGeom prst="rect">
            <a:avLst/>
          </a:prstGeom>
          <a:noFill/>
          <a:ln/>
        </p:spPr>
        <p:txBody>
          <a:bodyPr wrap="square" rtlCol="0" anchor="ctr"/>
          <a:lstStyle/>
          <a:p>
            <a:pPr marL="0" indent="0">
              <a:buNone/>
            </a:pPr>
            <a:r>
              <a:rPr lang="en-US" sz="1700" b="1" dirty="0">
                <a:solidFill>
                  <a:srgbClr val="16282A"/>
                </a:solidFill>
                <a:latin typeface="Cambria" pitchFamily="34" charset="0"/>
                <a:ea typeface="Cambria" pitchFamily="34" charset="-122"/>
                <a:cs typeface="Cambria" pitchFamily="34" charset="-120"/>
              </a:rPr>
              <a:t>Business Challenge</a:t>
            </a:r>
            <a:endParaRPr lang="en-US" sz="1700" dirty="0"/>
          </a:p>
        </p:txBody>
      </p:sp>
      <p:sp>
        <p:nvSpPr>
          <p:cNvPr id="8" name="Text 6">
            <a:extLst>
              <a:ext uri="{FF2B5EF4-FFF2-40B4-BE49-F238E27FC236}">
                <a16:creationId xmlns:a16="http://schemas.microsoft.com/office/drawing/2014/main" id="{F0020936-CE68-6E57-2F7D-29342D93A19C}"/>
              </a:ext>
            </a:extLst>
          </p:cNvPr>
          <p:cNvSpPr/>
          <p:nvPr/>
        </p:nvSpPr>
        <p:spPr>
          <a:xfrm>
            <a:off x="822960" y="3017520"/>
            <a:ext cx="2956560" cy="2788920"/>
          </a:xfrm>
          <a:prstGeom prst="rect">
            <a:avLst/>
          </a:prstGeom>
          <a:noFill/>
          <a:ln/>
        </p:spPr>
        <p:txBody>
          <a:bodyPr wrap="square" rtlCol="0" anchor="t"/>
          <a:lstStyle/>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Subscription customers are cancelling with no early-warning system in place</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Customer, subscription, and support data live in three disconnected sources</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Leadership lacks visibility into which segments, plans, and regions drive revenue loss</a:t>
            </a:r>
            <a:endParaRPr lang="en-US" sz="1200" dirty="0"/>
          </a:p>
        </p:txBody>
      </p:sp>
      <p:sp>
        <p:nvSpPr>
          <p:cNvPr id="9" name="Shape 7">
            <a:extLst>
              <a:ext uri="{FF2B5EF4-FFF2-40B4-BE49-F238E27FC236}">
                <a16:creationId xmlns:a16="http://schemas.microsoft.com/office/drawing/2014/main" id="{50016915-083C-5D2A-1570-24668B123722}"/>
              </a:ext>
            </a:extLst>
          </p:cNvPr>
          <p:cNvSpPr/>
          <p:nvPr/>
        </p:nvSpPr>
        <p:spPr>
          <a:xfrm>
            <a:off x="4373880" y="1600200"/>
            <a:ext cx="3505200" cy="4480560"/>
          </a:xfrm>
          <a:prstGeom prst="roundRect">
            <a:avLst>
              <a:gd name="adj" fmla="val 2087"/>
            </a:avLst>
          </a:prstGeom>
          <a:solidFill>
            <a:srgbClr val="F4FAF9"/>
          </a:solidFill>
          <a:ln w="12700">
            <a:solidFill>
              <a:srgbClr val="DCE9E7"/>
            </a:solidFill>
            <a:prstDash val="solid"/>
          </a:ln>
          <a:effectLst>
            <a:outerShdw blurRad="76200" dist="25400" dir="5400000" algn="bl" rotWithShape="0">
              <a:srgbClr val="1B3A3A">
                <a:alpha val="12000"/>
              </a:srgbClr>
            </a:outerShdw>
          </a:effectLst>
        </p:spPr>
      </p:sp>
      <p:sp>
        <p:nvSpPr>
          <p:cNvPr id="10" name="Shape 8">
            <a:extLst>
              <a:ext uri="{FF2B5EF4-FFF2-40B4-BE49-F238E27FC236}">
                <a16:creationId xmlns:a16="http://schemas.microsoft.com/office/drawing/2014/main" id="{749CFFF6-E210-2004-34CD-536E31B14297}"/>
              </a:ext>
            </a:extLst>
          </p:cNvPr>
          <p:cNvSpPr/>
          <p:nvPr/>
        </p:nvSpPr>
        <p:spPr>
          <a:xfrm>
            <a:off x="4648200" y="1874520"/>
            <a:ext cx="502920" cy="502920"/>
          </a:xfrm>
          <a:prstGeom prst="ellipse">
            <a:avLst/>
          </a:prstGeom>
          <a:solidFill>
            <a:srgbClr val="028090"/>
          </a:solidFill>
          <a:ln/>
        </p:spPr>
      </p:sp>
      <p:sp>
        <p:nvSpPr>
          <p:cNvPr id="11" name="Text 9">
            <a:extLst>
              <a:ext uri="{FF2B5EF4-FFF2-40B4-BE49-F238E27FC236}">
                <a16:creationId xmlns:a16="http://schemas.microsoft.com/office/drawing/2014/main" id="{5580ED8A-3FCA-0577-AB46-F317FDCBFA34}"/>
              </a:ext>
            </a:extLst>
          </p:cNvPr>
          <p:cNvSpPr/>
          <p:nvPr/>
        </p:nvSpPr>
        <p:spPr>
          <a:xfrm>
            <a:off x="4648200" y="1874520"/>
            <a:ext cx="502920" cy="50292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10">
            <a:extLst>
              <a:ext uri="{FF2B5EF4-FFF2-40B4-BE49-F238E27FC236}">
                <a16:creationId xmlns:a16="http://schemas.microsoft.com/office/drawing/2014/main" id="{97BF5A91-FF88-DFD4-6FCB-4B3FBB69D914}"/>
              </a:ext>
            </a:extLst>
          </p:cNvPr>
          <p:cNvSpPr/>
          <p:nvPr/>
        </p:nvSpPr>
        <p:spPr>
          <a:xfrm>
            <a:off x="4648200" y="2514600"/>
            <a:ext cx="2956560" cy="411480"/>
          </a:xfrm>
          <a:prstGeom prst="rect">
            <a:avLst/>
          </a:prstGeom>
          <a:noFill/>
          <a:ln/>
        </p:spPr>
        <p:txBody>
          <a:bodyPr wrap="square" rtlCol="0" anchor="ctr"/>
          <a:lstStyle/>
          <a:p>
            <a:pPr marL="0" indent="0">
              <a:buNone/>
            </a:pPr>
            <a:r>
              <a:rPr lang="en-US" sz="1700" b="1" dirty="0">
                <a:solidFill>
                  <a:srgbClr val="16282A"/>
                </a:solidFill>
                <a:latin typeface="Cambria" pitchFamily="34" charset="0"/>
                <a:ea typeface="Cambria" pitchFamily="34" charset="-122"/>
                <a:cs typeface="Cambria" pitchFamily="34" charset="-120"/>
              </a:rPr>
              <a:t>Core Tech Used</a:t>
            </a:r>
            <a:endParaRPr lang="en-US" sz="1700" dirty="0"/>
          </a:p>
        </p:txBody>
      </p:sp>
      <p:sp>
        <p:nvSpPr>
          <p:cNvPr id="13" name="Text 11">
            <a:extLst>
              <a:ext uri="{FF2B5EF4-FFF2-40B4-BE49-F238E27FC236}">
                <a16:creationId xmlns:a16="http://schemas.microsoft.com/office/drawing/2014/main" id="{51E98333-2299-5EE6-5291-2A47E958BA7F}"/>
              </a:ext>
            </a:extLst>
          </p:cNvPr>
          <p:cNvSpPr/>
          <p:nvPr/>
        </p:nvSpPr>
        <p:spPr>
          <a:xfrm>
            <a:off x="4648200" y="3017520"/>
            <a:ext cx="2956560" cy="2788920"/>
          </a:xfrm>
          <a:prstGeom prst="rect">
            <a:avLst/>
          </a:prstGeom>
          <a:noFill/>
          <a:ln/>
        </p:spPr>
        <p:txBody>
          <a:bodyPr wrap="square" rtlCol="0" anchor="t"/>
          <a:lstStyle/>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SQLite — source database for customer, subscription &amp; support records</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Python: Pandas &amp; NumPy — data cleaning, merging, feature engineering</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Matplotlib &amp; Seaborn — trend, distribution and correlation visualization</a:t>
            </a:r>
            <a:endParaRPr lang="en-US" sz="1200" dirty="0"/>
          </a:p>
          <a:p>
            <a:pPr marL="177800" indent="-177800">
              <a:lnSpc>
                <a:spcPts val="1600"/>
              </a:lnSpc>
              <a:spcAft>
                <a:spcPts val="1000"/>
              </a:spcAft>
              <a:buSzPct val="100000"/>
              <a:buChar char="•"/>
            </a:pPr>
            <a:r>
              <a:rPr lang="en-US" sz="1200" dirty="0">
                <a:solidFill>
                  <a:srgbClr val="16282A"/>
                </a:solidFill>
                <a:latin typeface="Calibri" pitchFamily="34" charset="0"/>
                <a:ea typeface="Calibri" pitchFamily="34" charset="-122"/>
                <a:cs typeface="Calibri" pitchFamily="34" charset="-120"/>
              </a:rPr>
              <a:t>Jupyter Notebook — end-to-end analysis workflow</a:t>
            </a:r>
            <a:endParaRPr lang="en-US" sz="1200" dirty="0"/>
          </a:p>
        </p:txBody>
      </p:sp>
      <p:sp>
        <p:nvSpPr>
          <p:cNvPr id="14" name="Shape 12">
            <a:extLst>
              <a:ext uri="{FF2B5EF4-FFF2-40B4-BE49-F238E27FC236}">
                <a16:creationId xmlns:a16="http://schemas.microsoft.com/office/drawing/2014/main" id="{C437CAAD-9194-D62D-07CB-DC3C68A98960}"/>
              </a:ext>
            </a:extLst>
          </p:cNvPr>
          <p:cNvSpPr/>
          <p:nvPr/>
        </p:nvSpPr>
        <p:spPr>
          <a:xfrm>
            <a:off x="8199120" y="1600200"/>
            <a:ext cx="3505200" cy="4480560"/>
          </a:xfrm>
          <a:prstGeom prst="roundRect">
            <a:avLst>
              <a:gd name="adj" fmla="val 2087"/>
            </a:avLst>
          </a:prstGeom>
          <a:solidFill>
            <a:srgbClr val="F4FAF9"/>
          </a:solidFill>
          <a:ln w="12700">
            <a:solidFill>
              <a:srgbClr val="DCE9E7"/>
            </a:solidFill>
            <a:prstDash val="solid"/>
          </a:ln>
          <a:effectLst>
            <a:outerShdw blurRad="76200" dist="25400" dir="5400000" algn="bl" rotWithShape="0">
              <a:srgbClr val="1B3A3A">
                <a:alpha val="12000"/>
              </a:srgbClr>
            </a:outerShdw>
          </a:effectLst>
        </p:spPr>
      </p:sp>
      <p:sp>
        <p:nvSpPr>
          <p:cNvPr id="15" name="Shape 13">
            <a:extLst>
              <a:ext uri="{FF2B5EF4-FFF2-40B4-BE49-F238E27FC236}">
                <a16:creationId xmlns:a16="http://schemas.microsoft.com/office/drawing/2014/main" id="{776EE5D7-E842-E4AC-7FAF-F68C7F6CB86A}"/>
              </a:ext>
            </a:extLst>
          </p:cNvPr>
          <p:cNvSpPr/>
          <p:nvPr/>
        </p:nvSpPr>
        <p:spPr>
          <a:xfrm>
            <a:off x="8473440" y="1874520"/>
            <a:ext cx="502920" cy="502920"/>
          </a:xfrm>
          <a:prstGeom prst="ellipse">
            <a:avLst/>
          </a:prstGeom>
          <a:solidFill>
            <a:srgbClr val="028090"/>
          </a:solidFill>
          <a:ln/>
        </p:spPr>
      </p:sp>
      <p:sp>
        <p:nvSpPr>
          <p:cNvPr id="16" name="Text 14">
            <a:extLst>
              <a:ext uri="{FF2B5EF4-FFF2-40B4-BE49-F238E27FC236}">
                <a16:creationId xmlns:a16="http://schemas.microsoft.com/office/drawing/2014/main" id="{5A768742-AE4E-6CA7-5397-54DF226F2606}"/>
              </a:ext>
            </a:extLst>
          </p:cNvPr>
          <p:cNvSpPr/>
          <p:nvPr/>
        </p:nvSpPr>
        <p:spPr>
          <a:xfrm>
            <a:off x="8473440" y="1874520"/>
            <a:ext cx="502920" cy="502920"/>
          </a:xfrm>
          <a:prstGeom prst="rect">
            <a:avLst/>
          </a:prstGeom>
          <a:noFill/>
          <a:ln/>
        </p:spPr>
        <p:txBody>
          <a:bodyPr wrap="square" rtlCol="0" anchor="ctr"/>
          <a:lstStyle/>
          <a:p>
            <a:pPr marL="0" indent="0" algn="ctr">
              <a:buNone/>
            </a:pPr>
            <a:r>
              <a:rPr lang="en-US" sz="2000" dirty="0">
                <a:solidFill>
                  <a:srgbClr val="FFFFFF"/>
                </a:solidFill>
                <a:latin typeface="Calibri" pitchFamily="34" charset="0"/>
                <a:ea typeface="Calibri" pitchFamily="34" charset="-122"/>
                <a:cs typeface="Calibri" pitchFamily="34" charset="-120"/>
              </a:rPr>
              <a:t>★</a:t>
            </a:r>
            <a:endParaRPr lang="en-US" sz="2000" dirty="0"/>
          </a:p>
        </p:txBody>
      </p:sp>
      <p:sp>
        <p:nvSpPr>
          <p:cNvPr id="17" name="Text 15">
            <a:extLst>
              <a:ext uri="{FF2B5EF4-FFF2-40B4-BE49-F238E27FC236}">
                <a16:creationId xmlns:a16="http://schemas.microsoft.com/office/drawing/2014/main" id="{521DF6A8-9AFD-9CE5-1765-ED67A4E65AB8}"/>
              </a:ext>
            </a:extLst>
          </p:cNvPr>
          <p:cNvSpPr/>
          <p:nvPr/>
        </p:nvSpPr>
        <p:spPr>
          <a:xfrm>
            <a:off x="8473440" y="2514600"/>
            <a:ext cx="2956560" cy="411480"/>
          </a:xfrm>
          <a:prstGeom prst="rect">
            <a:avLst/>
          </a:prstGeom>
          <a:noFill/>
          <a:ln/>
        </p:spPr>
        <p:txBody>
          <a:bodyPr wrap="square" rtlCol="0" anchor="ctr"/>
          <a:lstStyle/>
          <a:p>
            <a:pPr marL="0" indent="0">
              <a:buNone/>
            </a:pPr>
            <a:r>
              <a:rPr lang="en-US" sz="1700" b="1" dirty="0">
                <a:solidFill>
                  <a:srgbClr val="16282A"/>
                </a:solidFill>
                <a:latin typeface="Cambria" pitchFamily="34" charset="0"/>
                <a:ea typeface="Cambria" pitchFamily="34" charset="-122"/>
                <a:cs typeface="Cambria" pitchFamily="34" charset="-120"/>
              </a:rPr>
              <a:t>Project Milestone</a:t>
            </a:r>
            <a:endParaRPr lang="en-US" sz="1700" dirty="0"/>
          </a:p>
        </p:txBody>
      </p:sp>
      <p:sp>
        <p:nvSpPr>
          <p:cNvPr id="18" name="Text 16">
            <a:extLst>
              <a:ext uri="{FF2B5EF4-FFF2-40B4-BE49-F238E27FC236}">
                <a16:creationId xmlns:a16="http://schemas.microsoft.com/office/drawing/2014/main" id="{39933232-E132-09A3-8DC9-82BFDCAB81FE}"/>
              </a:ext>
            </a:extLst>
          </p:cNvPr>
          <p:cNvSpPr/>
          <p:nvPr/>
        </p:nvSpPr>
        <p:spPr>
          <a:xfrm>
            <a:off x="8473440" y="3017520"/>
            <a:ext cx="2956560" cy="2788920"/>
          </a:xfrm>
          <a:prstGeom prst="rect">
            <a:avLst/>
          </a:prstGeom>
          <a:noFill/>
          <a:ln/>
        </p:spPr>
        <p:txBody>
          <a:bodyPr wrap="square" rtlCol="0" anchor="t"/>
          <a:lstStyle/>
          <a:p>
            <a:pPr>
              <a:lnSpc>
                <a:spcPts val="1600"/>
              </a:lnSpc>
              <a:spcAft>
                <a:spcPts val="1000"/>
              </a:spcAft>
              <a:buSzPct val="100000"/>
            </a:pPr>
            <a:r>
              <a:rPr lang="en-US" sz="1200" dirty="0">
                <a:solidFill>
                  <a:srgbClr val="16282A"/>
                </a:solidFill>
                <a:latin typeface="Calibri" pitchFamily="34" charset="0"/>
                <a:ea typeface="Calibri" pitchFamily="34" charset="-122"/>
                <a:cs typeface="Calibri" pitchFamily="34" charset="-120"/>
              </a:rPr>
              <a:t>• Relational Data Extraction: Connecting   Python to SQL databases to pull multi-table    datasets.</a:t>
            </a:r>
          </a:p>
          <a:p>
            <a:pPr>
              <a:lnSpc>
                <a:spcPts val="1600"/>
              </a:lnSpc>
              <a:spcAft>
                <a:spcPts val="1000"/>
              </a:spcAft>
              <a:buSzPct val="100000"/>
            </a:pPr>
            <a:r>
              <a:rPr lang="en-US" sz="1200" dirty="0">
                <a:solidFill>
                  <a:srgbClr val="16282A"/>
                </a:solidFill>
                <a:latin typeface="Calibri" pitchFamily="34" charset="0"/>
                <a:ea typeface="Calibri" pitchFamily="34" charset="-122"/>
                <a:cs typeface="Calibri" pitchFamily="34" charset="-120"/>
              </a:rPr>
              <a:t>• Advanced Feature Engineering: Data imports, calculating tenure, churn rates, and customer aging.</a:t>
            </a:r>
          </a:p>
          <a:p>
            <a:pPr>
              <a:lnSpc>
                <a:spcPts val="1600"/>
              </a:lnSpc>
              <a:spcAft>
                <a:spcPts val="1000"/>
              </a:spcAft>
              <a:buSzPct val="100000"/>
            </a:pPr>
            <a:r>
              <a:rPr lang="en-US" sz="1200" dirty="0">
                <a:solidFill>
                  <a:srgbClr val="16282A"/>
                </a:solidFill>
                <a:latin typeface="Calibri" pitchFamily="34" charset="0"/>
                <a:ea typeface="Calibri" pitchFamily="34" charset="-122"/>
                <a:cs typeface="Calibri" pitchFamily="34" charset="-120"/>
              </a:rPr>
              <a:t>• Executive Reporting: Translating technical findings into billion-dollar business insights.</a:t>
            </a:r>
            <a:endParaRPr lang="en-US" sz="1200" dirty="0"/>
          </a:p>
        </p:txBody>
      </p:sp>
      <p:sp>
        <p:nvSpPr>
          <p:cNvPr id="19" name="Text 17">
            <a:extLst>
              <a:ext uri="{FF2B5EF4-FFF2-40B4-BE49-F238E27FC236}">
                <a16:creationId xmlns:a16="http://schemas.microsoft.com/office/drawing/2014/main" id="{72036009-ECC2-548A-A5D2-567623A6DF18}"/>
              </a:ext>
            </a:extLst>
          </p:cNvPr>
          <p:cNvSpPr/>
          <p:nvPr/>
        </p:nvSpPr>
        <p:spPr>
          <a:xfrm>
            <a:off x="457200" y="6510528"/>
            <a:ext cx="5486400" cy="274320"/>
          </a:xfrm>
          <a:prstGeom prst="rect">
            <a:avLst/>
          </a:prstGeom>
          <a:noFill/>
          <a:ln/>
        </p:spPr>
        <p:txBody>
          <a:bodyPr wrap="square" rtlCol="0" anchor="ctr"/>
          <a:lstStyle/>
          <a:p>
            <a:pPr marL="0" indent="0" algn="l">
              <a:buNone/>
            </a:pPr>
            <a:r>
              <a:rPr lang="en-US" sz="900" dirty="0">
                <a:solidFill>
                  <a:srgbClr val="5C7275"/>
                </a:solidFill>
                <a:latin typeface="Calibri" pitchFamily="34" charset="0"/>
                <a:ea typeface="Calibri" pitchFamily="34" charset="-122"/>
                <a:cs typeface="Calibri" pitchFamily="34" charset="-120"/>
              </a:rPr>
              <a:t>Churn Analysis &amp; Customer Intelligence</a:t>
            </a:r>
            <a:endParaRPr lang="en-US" sz="900" dirty="0"/>
          </a:p>
        </p:txBody>
      </p:sp>
      <p:sp>
        <p:nvSpPr>
          <p:cNvPr id="20" name="Text 18">
            <a:extLst>
              <a:ext uri="{FF2B5EF4-FFF2-40B4-BE49-F238E27FC236}">
                <a16:creationId xmlns:a16="http://schemas.microsoft.com/office/drawing/2014/main" id="{17CF3953-7B12-9277-742A-E8F9539BB7B3}"/>
              </a:ext>
            </a:extLst>
          </p:cNvPr>
          <p:cNvSpPr/>
          <p:nvPr/>
        </p:nvSpPr>
        <p:spPr>
          <a:xfrm>
            <a:off x="11430000" y="6510528"/>
            <a:ext cx="365760" cy="274320"/>
          </a:xfrm>
          <a:prstGeom prst="rect">
            <a:avLst/>
          </a:prstGeom>
          <a:noFill/>
          <a:ln/>
        </p:spPr>
        <p:txBody>
          <a:bodyPr wrap="square" rtlCol="0" anchor="ctr"/>
          <a:lstStyle/>
          <a:p>
            <a:pPr marL="0" indent="0" algn="r">
              <a:buNone/>
            </a:pPr>
            <a:r>
              <a:rPr lang="en-US" sz="900" dirty="0">
                <a:solidFill>
                  <a:srgbClr val="5C7275"/>
                </a:solidFill>
                <a:latin typeface="Calibri" pitchFamily="34" charset="0"/>
                <a:ea typeface="Calibri" pitchFamily="34" charset="-122"/>
                <a:cs typeface="Calibri" pitchFamily="34" charset="-120"/>
              </a:rPr>
              <a:t>2</a:t>
            </a:r>
            <a:endParaRPr lang="en-US" sz="900" dirty="0"/>
          </a:p>
        </p:txBody>
      </p:sp>
    </p:spTree>
    <p:extLst>
      <p:ext uri="{BB962C8B-B14F-4D97-AF65-F5344CB8AC3E}">
        <p14:creationId xmlns:p14="http://schemas.microsoft.com/office/powerpoint/2010/main" val="3526833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52E2E"/>
        </a:solidFill>
        <a:effectLst/>
      </p:bgPr>
    </p:bg>
    <p:spTree>
      <p:nvGrpSpPr>
        <p:cNvPr id="1" name=""/>
        <p:cNvGrpSpPr/>
        <p:nvPr/>
      </p:nvGrpSpPr>
      <p:grpSpPr>
        <a:xfrm>
          <a:off x="0" y="0"/>
          <a:ext cx="0" cy="0"/>
          <a:chOff x="0" y="0"/>
          <a:chExt cx="0" cy="0"/>
        </a:xfrm>
      </p:grpSpPr>
      <p:sp>
        <p:nvSpPr>
          <p:cNvPr id="2" name="Shape 0"/>
          <p:cNvSpPr/>
          <p:nvPr/>
        </p:nvSpPr>
        <p:spPr>
          <a:xfrm>
            <a:off x="-1280160" y="-1463040"/>
            <a:ext cx="4572000" cy="4572000"/>
          </a:xfrm>
          <a:prstGeom prst="ellipse">
            <a:avLst/>
          </a:prstGeom>
          <a:solidFill>
            <a:srgbClr val="028090">
              <a:alpha val="30000"/>
            </a:srgbClr>
          </a:solidFill>
          <a:ln/>
        </p:spPr>
      </p:sp>
      <p:sp>
        <p:nvSpPr>
          <p:cNvPr id="3" name="Shape 1"/>
          <p:cNvSpPr/>
          <p:nvPr/>
        </p:nvSpPr>
        <p:spPr>
          <a:xfrm>
            <a:off x="9692640" y="3931920"/>
            <a:ext cx="4023360" cy="4023360"/>
          </a:xfrm>
          <a:prstGeom prst="ellipse">
            <a:avLst/>
          </a:prstGeom>
          <a:solidFill>
            <a:srgbClr val="00A896">
              <a:alpha val="40000"/>
            </a:srgbClr>
          </a:solidFill>
          <a:ln/>
        </p:spPr>
      </p:sp>
      <p:sp>
        <p:nvSpPr>
          <p:cNvPr id="4" name="Text 2"/>
          <p:cNvSpPr/>
          <p:nvPr/>
        </p:nvSpPr>
        <p:spPr>
          <a:xfrm>
            <a:off x="0" y="2560320"/>
            <a:ext cx="12188952" cy="100584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5641848" y="3611880"/>
            <a:ext cx="914400" cy="0"/>
          </a:xfrm>
          <a:prstGeom prst="line">
            <a:avLst/>
          </a:prstGeom>
          <a:noFill/>
          <a:ln w="38100">
            <a:solidFill>
              <a:srgbClr val="02C39A"/>
            </a:solidFill>
            <a:prstDash val="solid"/>
          </a:ln>
        </p:spPr>
      </p:sp>
      <p:sp>
        <p:nvSpPr>
          <p:cNvPr id="6" name="Text 4"/>
          <p:cNvSpPr/>
          <p:nvPr/>
        </p:nvSpPr>
        <p:spPr>
          <a:xfrm>
            <a:off x="0" y="3794760"/>
            <a:ext cx="12188952" cy="457200"/>
          </a:xfrm>
          <a:prstGeom prst="rect">
            <a:avLst/>
          </a:prstGeom>
          <a:noFill/>
          <a:ln/>
        </p:spPr>
        <p:txBody>
          <a:bodyPr wrap="square" rtlCol="0" anchor="ctr"/>
          <a:lstStyle/>
          <a:p>
            <a:pPr marL="0" indent="0" algn="ctr">
              <a:buNone/>
            </a:pPr>
            <a:r>
              <a:rPr lang="en-US" sz="1500" dirty="0">
                <a:solidFill>
                  <a:srgbClr val="C9DEDC"/>
                </a:solidFill>
                <a:latin typeface="Calibri" pitchFamily="34" charset="0"/>
                <a:ea typeface="Calibri" pitchFamily="34" charset="-122"/>
                <a:cs typeface="Calibri" pitchFamily="34" charset="-120"/>
              </a:rPr>
              <a:t>Questions &amp; discussion welcome</a:t>
            </a:r>
            <a:endParaRPr lang="en-US" sz="1500" dirty="0"/>
          </a:p>
        </p:txBody>
      </p:sp>
      <p:sp>
        <p:nvSpPr>
          <p:cNvPr id="7" name="Text 5"/>
          <p:cNvSpPr/>
          <p:nvPr/>
        </p:nvSpPr>
        <p:spPr>
          <a:xfrm>
            <a:off x="0" y="5120640"/>
            <a:ext cx="12188952" cy="411480"/>
          </a:xfrm>
          <a:prstGeom prst="rect">
            <a:avLst/>
          </a:prstGeom>
          <a:noFill/>
          <a:ln/>
        </p:spPr>
        <p:txBody>
          <a:bodyPr wrap="square"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Riya Bhatt</a:t>
            </a:r>
            <a:endParaRPr lang="en-US" sz="1800" dirty="0"/>
          </a:p>
        </p:txBody>
      </p:sp>
      <p:sp>
        <p:nvSpPr>
          <p:cNvPr id="8" name="Text 6"/>
          <p:cNvSpPr/>
          <p:nvPr/>
        </p:nvSpPr>
        <p:spPr>
          <a:xfrm>
            <a:off x="0" y="5532120"/>
            <a:ext cx="12188952" cy="320040"/>
          </a:xfrm>
          <a:prstGeom prst="rect">
            <a:avLst/>
          </a:prstGeom>
          <a:noFill/>
          <a:ln/>
        </p:spPr>
        <p:txBody>
          <a:bodyPr wrap="square" rtlCol="0" anchor="ctr"/>
          <a:lstStyle/>
          <a:p>
            <a:pPr algn="ctr"/>
            <a:r>
              <a:rPr lang="en-US" sz="1100" dirty="0">
                <a:solidFill>
                  <a:schemeClr val="bg1">
                    <a:lumMod val="65000"/>
                  </a:schemeClr>
                </a:solidFill>
              </a:rPr>
              <a:t>LinkedIn : </a:t>
            </a:r>
            <a:r>
              <a:rPr lang="en-US" sz="1100" i="1" dirty="0">
                <a:solidFill>
                  <a:schemeClr val="bg1">
                    <a:lumMod val="65000"/>
                  </a:schemeClr>
                </a:solidFill>
                <a:hlinkClick r:id="rId3"/>
              </a:rPr>
              <a:t>https://www.linkedin.com/in/riyabhattz/</a:t>
            </a:r>
            <a:endParaRPr lang="en-US" sz="1100" i="1" dirty="0">
              <a:solidFill>
                <a:schemeClr val="bg1">
                  <a:lumMod val="65000"/>
                </a:schemeClr>
              </a:solidFill>
            </a:endParaRPr>
          </a:p>
          <a:p>
            <a:pPr algn="ctr"/>
            <a:r>
              <a:rPr lang="en-US" sz="1100" dirty="0">
                <a:solidFill>
                  <a:schemeClr val="bg1">
                    <a:lumMod val="65000"/>
                  </a:schemeClr>
                </a:solidFill>
              </a:rPr>
              <a:t>GitHub: </a:t>
            </a:r>
            <a:r>
              <a:rPr lang="en-US" sz="1100" i="1" dirty="0">
                <a:solidFill>
                  <a:schemeClr val="bg1">
                    <a:lumMod val="65000"/>
                  </a:schemeClr>
                </a:solidFill>
                <a:hlinkClick r:id="rId4"/>
              </a:rPr>
              <a:t>https://github.com/riyabhatts</a:t>
            </a:r>
            <a:endParaRPr lang="en-US" sz="1100" i="1" dirty="0">
              <a:solidFill>
                <a:schemeClr val="bg1">
                  <a:lumMod val="65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838</Words>
  <Application>Microsoft Office PowerPoint</Application>
  <PresentationFormat>Widescreen</PresentationFormat>
  <Paragraphs>151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Riya Bhatt</cp:lastModifiedBy>
  <cp:revision>4</cp:revision>
  <dcterms:created xsi:type="dcterms:W3CDTF">2026-07-20T07:48:57Z</dcterms:created>
  <dcterms:modified xsi:type="dcterms:W3CDTF">2026-07-20T08:35:17Z</dcterms:modified>
</cp:coreProperties>
</file>